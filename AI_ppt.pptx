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Klein Bold" charset="1" panose="02000503060000020004"/>
      <p:regular r:id="rId17"/>
    </p:embeddedFont>
    <p:embeddedFont>
      <p:font typeface="Helios" charset="1" panose="020B0504020202020204"/>
      <p:regular r:id="rId18"/>
    </p:embeddedFont>
    <p:embeddedFont>
      <p:font typeface="Helios Bold" charset="1" panose="020B07040202020202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7.jpeg" Type="http://schemas.openxmlformats.org/officeDocument/2006/relationships/image"/><Relationship Id="rId5" Target="../media/image1.png" Type="http://schemas.openxmlformats.org/officeDocument/2006/relationships/image"/><Relationship Id="rId6" Target="../media/image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slide3.xml" Type="http://schemas.openxmlformats.org/officeDocument/2006/relationships/slide"/><Relationship Id="rId3" Target="slide4.xml" Type="http://schemas.openxmlformats.org/officeDocument/2006/relationships/slid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0.png" Type="http://schemas.openxmlformats.org/officeDocument/2006/relationships/image"/><Relationship Id="rId5" Target="../media/image21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466927" y="-4280359"/>
            <a:ext cx="10812392" cy="10812392"/>
          </a:xfrm>
          <a:custGeom>
            <a:avLst/>
            <a:gdLst/>
            <a:ahLst/>
            <a:cxnLst/>
            <a:rect r="r" b="b" t="t" l="l"/>
            <a:pathLst>
              <a:path h="10812392" w="10812392">
                <a:moveTo>
                  <a:pt x="0" y="0"/>
                </a:moveTo>
                <a:lnTo>
                  <a:pt x="10812393" y="0"/>
                </a:lnTo>
                <a:lnTo>
                  <a:pt x="10812393" y="10812392"/>
                </a:lnTo>
                <a:lnTo>
                  <a:pt x="0" y="108123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407200" y="4432068"/>
            <a:ext cx="5764383" cy="5764383"/>
          </a:xfrm>
          <a:custGeom>
            <a:avLst/>
            <a:gdLst/>
            <a:ahLst/>
            <a:cxnLst/>
            <a:rect r="r" b="b" t="t" l="l"/>
            <a:pathLst>
              <a:path h="5764383" w="5764383">
                <a:moveTo>
                  <a:pt x="0" y="0"/>
                </a:moveTo>
                <a:lnTo>
                  <a:pt x="5764383" y="0"/>
                </a:lnTo>
                <a:lnTo>
                  <a:pt x="5764383" y="5764383"/>
                </a:lnTo>
                <a:lnTo>
                  <a:pt x="0" y="57643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7078" y="7902203"/>
            <a:ext cx="5764383" cy="5764383"/>
          </a:xfrm>
          <a:custGeom>
            <a:avLst/>
            <a:gdLst/>
            <a:ahLst/>
            <a:cxnLst/>
            <a:rect r="r" b="b" t="t" l="l"/>
            <a:pathLst>
              <a:path h="5764383" w="5764383">
                <a:moveTo>
                  <a:pt x="0" y="0"/>
                </a:moveTo>
                <a:lnTo>
                  <a:pt x="5764383" y="0"/>
                </a:lnTo>
                <a:lnTo>
                  <a:pt x="5764383" y="5764382"/>
                </a:lnTo>
                <a:lnTo>
                  <a:pt x="0" y="57643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8345466" y="1296313"/>
            <a:ext cx="9354171" cy="8300595"/>
            <a:chOff x="0" y="0"/>
            <a:chExt cx="12472228" cy="1106746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9525"/>
              <a:ext cx="12472228" cy="76295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560"/>
                </a:lnSpc>
              </a:pPr>
              <a:r>
                <a:rPr lang="en-US" sz="6300" b="true">
                  <a:solidFill>
                    <a:srgbClr val="2A2E3A"/>
                  </a:solidFill>
                  <a:latin typeface="Klein Bold"/>
                  <a:ea typeface="Klein Bold"/>
                  <a:cs typeface="Klein Bold"/>
                  <a:sym typeface="Klein Bold"/>
                </a:rPr>
                <a:t>Vision-Based Grid Environment Modeling and Optimal Path Planning Using Heuristic Search Algorithms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8861258"/>
              <a:ext cx="10498974" cy="22062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79"/>
                </a:lnSpc>
              </a:pPr>
              <a:r>
                <a:rPr lang="en-US" sz="3199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Group - (3F11)</a:t>
              </a:r>
            </a:p>
            <a:p>
              <a:pPr algn="l">
                <a:lnSpc>
                  <a:spcPts val="4479"/>
                </a:lnSpc>
              </a:pPr>
              <a:r>
                <a:rPr lang="en-US" sz="3199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Dhruv Raj Ghai (102306003)</a:t>
              </a:r>
            </a:p>
            <a:p>
              <a:pPr algn="l">
                <a:lnSpc>
                  <a:spcPts val="4479"/>
                </a:lnSpc>
              </a:pPr>
              <a:r>
                <a:rPr lang="en-US" sz="3199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Yashica Gupta (102356004)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602255" y="724512"/>
            <a:ext cx="1621594" cy="1621594"/>
          </a:xfrm>
          <a:custGeom>
            <a:avLst/>
            <a:gdLst/>
            <a:ahLst/>
            <a:cxnLst/>
            <a:rect r="r" b="b" t="t" l="l"/>
            <a:pathLst>
              <a:path h="1621594" w="1621594">
                <a:moveTo>
                  <a:pt x="0" y="0"/>
                </a:moveTo>
                <a:lnTo>
                  <a:pt x="1621594" y="0"/>
                </a:lnTo>
                <a:lnTo>
                  <a:pt x="1621594" y="1621593"/>
                </a:lnTo>
                <a:lnTo>
                  <a:pt x="0" y="16215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602255" y="3521906"/>
            <a:ext cx="1621594" cy="1621594"/>
          </a:xfrm>
          <a:custGeom>
            <a:avLst/>
            <a:gdLst/>
            <a:ahLst/>
            <a:cxnLst/>
            <a:rect r="r" b="b" t="t" l="l"/>
            <a:pathLst>
              <a:path h="1621594" w="1621594">
                <a:moveTo>
                  <a:pt x="0" y="0"/>
                </a:moveTo>
                <a:lnTo>
                  <a:pt x="1621594" y="0"/>
                </a:lnTo>
                <a:lnTo>
                  <a:pt x="1621594" y="1621594"/>
                </a:lnTo>
                <a:lnTo>
                  <a:pt x="0" y="16215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475341" y="3387360"/>
            <a:ext cx="7111579" cy="2635250"/>
            <a:chOff x="0" y="0"/>
            <a:chExt cx="9482105" cy="3513666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0"/>
              <a:ext cx="9482105" cy="762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559"/>
                </a:lnSpc>
                <a:spcBef>
                  <a:spcPct val="0"/>
                </a:spcBef>
              </a:pPr>
              <a:r>
                <a:rPr lang="en-US" b="true" sz="3799">
                  <a:solidFill>
                    <a:srgbClr val="718BAB"/>
                  </a:solidFill>
                  <a:latin typeface="Klein Bold"/>
                  <a:ea typeface="Klein Bold"/>
                  <a:cs typeface="Klein Bold"/>
                  <a:sym typeface="Klein Bold"/>
                </a:rPr>
                <a:t>Motivat</a:t>
              </a:r>
              <a:r>
                <a:rPr lang="en-US" b="true" sz="3799" u="none">
                  <a:solidFill>
                    <a:srgbClr val="718BAB"/>
                  </a:solidFill>
                  <a:latin typeface="Klein Bold"/>
                  <a:ea typeface="Klein Bold"/>
                  <a:cs typeface="Klein Bold"/>
                  <a:sym typeface="Klein Bold"/>
                </a:rPr>
                <a:t>ion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714375"/>
              <a:ext cx="9482105" cy="27992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31802" indent="-215901" lvl="1">
                <a:lnSpc>
                  <a:spcPts val="28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000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Real-wo</a:t>
              </a:r>
              <a:r>
                <a:rPr lang="en-US" sz="2000" u="none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rld environments contain obstacle</a:t>
              </a:r>
              <a:r>
                <a:rPr lang="en-US" sz="2000" u="none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s and complex layouts.</a:t>
              </a:r>
            </a:p>
            <a:p>
              <a:pPr algn="l" marL="431802" indent="-215901" lvl="1">
                <a:lnSpc>
                  <a:spcPts val="28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000" u="none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Robots </a:t>
              </a:r>
              <a:r>
                <a:rPr lang="en-US" sz="2000" u="none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and AI agents require intelligent navigation.</a:t>
              </a:r>
            </a:p>
            <a:p>
              <a:pPr algn="l" marL="431802" indent="-215901" lvl="1">
                <a:lnSpc>
                  <a:spcPts val="28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000" u="none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Classical search and learning-based approaches can improve path planning.</a:t>
              </a:r>
            </a:p>
            <a:p>
              <a:pPr algn="l" marL="0" indent="0" lvl="0">
                <a:lnSpc>
                  <a:spcPts val="28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8602255" y="6823906"/>
            <a:ext cx="1621594" cy="1621594"/>
          </a:xfrm>
          <a:custGeom>
            <a:avLst/>
            <a:gdLst/>
            <a:ahLst/>
            <a:cxnLst/>
            <a:rect r="r" b="b" t="t" l="l"/>
            <a:pathLst>
              <a:path h="1621594" w="1621594">
                <a:moveTo>
                  <a:pt x="0" y="0"/>
                </a:moveTo>
                <a:lnTo>
                  <a:pt x="1621594" y="0"/>
                </a:lnTo>
                <a:lnTo>
                  <a:pt x="1621594" y="1621594"/>
                </a:lnTo>
                <a:lnTo>
                  <a:pt x="0" y="16215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-47625" y="0"/>
            <a:ext cx="9411059" cy="10287000"/>
            <a:chOff x="0" y="0"/>
            <a:chExt cx="2478633" cy="27093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78633" cy="2709333"/>
            </a:xfrm>
            <a:custGeom>
              <a:avLst/>
              <a:gdLst/>
              <a:ahLst/>
              <a:cxnLst/>
              <a:rect r="r" b="b" t="t" l="l"/>
              <a:pathLst>
                <a:path h="2709333" w="2478633">
                  <a:moveTo>
                    <a:pt x="0" y="0"/>
                  </a:moveTo>
                  <a:lnTo>
                    <a:pt x="2478633" y="0"/>
                  </a:lnTo>
                  <a:lnTo>
                    <a:pt x="247863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47863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28700" y="2346105"/>
            <a:ext cx="6746873" cy="6355079"/>
            <a:chOff x="0" y="0"/>
            <a:chExt cx="8995831" cy="8473439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-76200"/>
              <a:ext cx="8995831" cy="45677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9099"/>
                </a:lnSpc>
              </a:pPr>
              <a:r>
                <a:rPr lang="en-US" sz="6999" b="true">
                  <a:solidFill>
                    <a:srgbClr val="2A2E3A"/>
                  </a:solidFill>
                  <a:latin typeface="Klein Bold"/>
                  <a:ea typeface="Klein Bold"/>
                  <a:cs typeface="Klein Bold"/>
                  <a:sym typeface="Klein Bold"/>
                </a:rPr>
                <a:t>Project Idea</a:t>
              </a:r>
              <a:r>
                <a:rPr lang="en-US" b="true" sz="6999">
                  <a:solidFill>
                    <a:srgbClr val="718BAB"/>
                  </a:solidFill>
                  <a:latin typeface="Klein Bold"/>
                  <a:ea typeface="Klein Bold"/>
                  <a:cs typeface="Klein Bold"/>
                  <a:sym typeface="Klein Bold"/>
                </a:rPr>
                <a:t> </a:t>
              </a:r>
            </a:p>
            <a:p>
              <a:pPr algn="l">
                <a:lnSpc>
                  <a:spcPts val="9099"/>
                </a:lnSpc>
              </a:pPr>
              <a:r>
                <a:rPr lang="en-US" b="true" sz="6999">
                  <a:solidFill>
                    <a:srgbClr val="718BAB"/>
                  </a:solidFill>
                  <a:latin typeface="Klein Bold"/>
                  <a:ea typeface="Klein Bold"/>
                  <a:cs typeface="Klein Bold"/>
                  <a:sym typeface="Klein Bold"/>
                </a:rPr>
                <a:t>&amp; Problem Statement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5194088"/>
              <a:ext cx="7058405" cy="32793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800"/>
                </a:lnSpc>
              </a:pPr>
              <a:r>
                <a:rPr lang="en-US" sz="2000" b="true">
                  <a:solidFill>
                    <a:srgbClr val="2A2E3A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PROJECT IDEA -</a:t>
              </a:r>
            </a:p>
            <a:p>
              <a:pPr algn="just">
                <a:lnSpc>
                  <a:spcPts val="2800"/>
                </a:lnSpc>
              </a:pPr>
              <a:r>
                <a:rPr lang="en-US" sz="2000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This p</a:t>
              </a:r>
              <a:r>
                <a:rPr lang="en-US" sz="2000" u="none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roject converts visual environments such as floor plans and occupancy maps into binary occupancy grids and applies AI-based path planning algorithms to find efficient navigation paths between a start and goal position.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475341" y="695744"/>
            <a:ext cx="7111579" cy="2027555"/>
            <a:chOff x="0" y="0"/>
            <a:chExt cx="9482105" cy="2703407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0"/>
              <a:ext cx="9482105" cy="762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559"/>
                </a:lnSpc>
                <a:spcBef>
                  <a:spcPct val="0"/>
                </a:spcBef>
              </a:pPr>
              <a:r>
                <a:rPr lang="en-US" b="true" sz="3799">
                  <a:solidFill>
                    <a:srgbClr val="718BAB"/>
                  </a:solidFill>
                  <a:latin typeface="Klein Bold"/>
                  <a:ea typeface="Klein Bold"/>
                  <a:cs typeface="Klein Bold"/>
                  <a:sym typeface="Klein Bold"/>
                </a:rPr>
                <a:t>Problem St</a:t>
              </a:r>
              <a:r>
                <a:rPr lang="en-US" b="true" sz="3799" u="none">
                  <a:solidFill>
                    <a:srgbClr val="718BAB"/>
                  </a:solidFill>
                  <a:latin typeface="Klein Bold"/>
                  <a:ea typeface="Klein Bold"/>
                  <a:cs typeface="Klein Bold"/>
                  <a:sym typeface="Klein Bold"/>
                </a:rPr>
                <a:t>atement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714375"/>
              <a:ext cx="9482105" cy="19890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Finding safe and efficient paths in indoor environments is important for autonomous systems such as robots, warehouse automation systems, and smart navigation agents.</a:t>
              </a:r>
            </a:p>
            <a:p>
              <a:pPr algn="l" marL="0" indent="0" lvl="0">
                <a:lnSpc>
                  <a:spcPts val="363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475341" y="6689359"/>
            <a:ext cx="7111579" cy="2635250"/>
            <a:chOff x="0" y="0"/>
            <a:chExt cx="9482105" cy="3513666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0" y="0"/>
              <a:ext cx="9482105" cy="762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559"/>
                </a:lnSpc>
                <a:spcBef>
                  <a:spcPct val="0"/>
                </a:spcBef>
              </a:pPr>
              <a:r>
                <a:rPr lang="en-US" b="true" sz="3799">
                  <a:solidFill>
                    <a:srgbClr val="718BAB"/>
                  </a:solidFill>
                  <a:latin typeface="Klein Bold"/>
                  <a:ea typeface="Klein Bold"/>
                  <a:cs typeface="Klein Bold"/>
                  <a:sym typeface="Klein Bold"/>
                </a:rPr>
                <a:t>Expected Outc</a:t>
              </a:r>
              <a:r>
                <a:rPr lang="en-US" b="true" sz="3799" u="none">
                  <a:solidFill>
                    <a:srgbClr val="718BAB"/>
                  </a:solidFill>
                  <a:latin typeface="Klein Bold"/>
                  <a:ea typeface="Klein Bold"/>
                  <a:cs typeface="Klein Bold"/>
                  <a:sym typeface="Klein Bold"/>
                </a:rPr>
                <a:t>ome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714375"/>
              <a:ext cx="9482105" cy="27992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31802" indent="-215901" lvl="1">
                <a:lnSpc>
                  <a:spcPts val="28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000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Generate occupancy g</a:t>
              </a:r>
              <a:r>
                <a:rPr lang="en-US" sz="2000" u="none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rids from images.</a:t>
              </a:r>
            </a:p>
            <a:p>
              <a:pPr algn="l" marL="431802" indent="-215901" lvl="1">
                <a:lnSpc>
                  <a:spcPts val="28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000" u="none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Compare BFS, DFS, A*, MDP, and Q-Learning.</a:t>
              </a:r>
            </a:p>
            <a:p>
              <a:pPr algn="l" marL="431802" indent="-215901" lvl="1">
                <a:lnSpc>
                  <a:spcPts val="28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000" u="none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Visualize</a:t>
              </a:r>
              <a:r>
                <a:rPr lang="en-US" sz="2000" u="none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 opt</a:t>
              </a:r>
              <a:r>
                <a:rPr lang="en-US" sz="2000" u="none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imal and learned navigation paths.</a:t>
              </a:r>
            </a:p>
            <a:p>
              <a:pPr algn="l" marL="431802" indent="-215901" lvl="1">
                <a:lnSpc>
                  <a:spcPts val="28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000" u="none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Analyze algorithm performance using path length, explored nodes, and execution time.</a:t>
              </a:r>
            </a:p>
            <a:p>
              <a:pPr algn="l" marL="0" indent="0" lvl="0">
                <a:lnSpc>
                  <a:spcPts val="2800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296844" y="-1836715"/>
            <a:ext cx="13960430" cy="13960430"/>
          </a:xfrm>
          <a:custGeom>
            <a:avLst/>
            <a:gdLst/>
            <a:ahLst/>
            <a:cxnLst/>
            <a:rect r="r" b="b" t="t" l="l"/>
            <a:pathLst>
              <a:path h="13960430" w="13960430">
                <a:moveTo>
                  <a:pt x="0" y="0"/>
                </a:moveTo>
                <a:lnTo>
                  <a:pt x="13960431" y="0"/>
                </a:lnTo>
                <a:lnTo>
                  <a:pt x="13960431" y="13960430"/>
                </a:lnTo>
                <a:lnTo>
                  <a:pt x="0" y="139604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578497" y="373168"/>
            <a:ext cx="4410633" cy="2425281"/>
            <a:chOff x="0" y="0"/>
            <a:chExt cx="1305847" cy="71804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05847" cy="718048"/>
            </a:xfrm>
            <a:custGeom>
              <a:avLst/>
              <a:gdLst/>
              <a:ahLst/>
              <a:cxnLst/>
              <a:rect r="r" b="b" t="t" l="l"/>
              <a:pathLst>
                <a:path h="718048" w="1305847">
                  <a:moveTo>
                    <a:pt x="59680" y="0"/>
                  </a:moveTo>
                  <a:lnTo>
                    <a:pt x="1246167" y="0"/>
                  </a:lnTo>
                  <a:cubicBezTo>
                    <a:pt x="1279127" y="0"/>
                    <a:pt x="1305847" y="26720"/>
                    <a:pt x="1305847" y="59680"/>
                  </a:cubicBezTo>
                  <a:lnTo>
                    <a:pt x="1305847" y="658368"/>
                  </a:lnTo>
                  <a:cubicBezTo>
                    <a:pt x="1305847" y="691328"/>
                    <a:pt x="1279127" y="718048"/>
                    <a:pt x="1246167" y="718048"/>
                  </a:cubicBezTo>
                  <a:lnTo>
                    <a:pt x="59680" y="718048"/>
                  </a:lnTo>
                  <a:cubicBezTo>
                    <a:pt x="26720" y="718048"/>
                    <a:pt x="0" y="691328"/>
                    <a:pt x="0" y="658368"/>
                  </a:cubicBezTo>
                  <a:lnTo>
                    <a:pt x="0" y="59680"/>
                  </a:lnTo>
                  <a:cubicBezTo>
                    <a:pt x="0" y="26720"/>
                    <a:pt x="26720" y="0"/>
                    <a:pt x="59680" y="0"/>
                  </a:cubicBezTo>
                  <a:close/>
                </a:path>
              </a:pathLst>
            </a:custGeom>
            <a:solidFill>
              <a:srgbClr val="C0CFE1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1305847" cy="7847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795639" y="471441"/>
            <a:ext cx="4520579" cy="2184073"/>
            <a:chOff x="0" y="0"/>
            <a:chExt cx="6027438" cy="2912097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9525"/>
              <a:ext cx="5738801" cy="466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760"/>
                </a:lnSpc>
                <a:spcBef>
                  <a:spcPct val="0"/>
                </a:spcBef>
              </a:pPr>
              <a:r>
                <a:rPr lang="en-US" b="true" sz="2300">
                  <a:solidFill>
                    <a:srgbClr val="2A2E3A"/>
                  </a:solidFill>
                  <a:latin typeface="Klein Bold"/>
                  <a:ea typeface="Klein Bold"/>
                  <a:cs typeface="Klein Bold"/>
                  <a:sym typeface="Klein Bold"/>
                </a:rPr>
                <a:t>Input D</a:t>
              </a:r>
              <a:r>
                <a:rPr lang="en-US" b="true" sz="2300" u="none">
                  <a:solidFill>
                    <a:srgbClr val="2A2E3A"/>
                  </a:solidFill>
                  <a:latin typeface="Klein Bold"/>
                  <a:ea typeface="Klein Bold"/>
                  <a:cs typeface="Klein Bold"/>
                  <a:sym typeface="Klein Bold"/>
                </a:rPr>
                <a:t>ata Used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582706"/>
              <a:ext cx="6027438" cy="23293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31801" indent="-215900" lvl="1">
                <a:lnSpc>
                  <a:spcPts val="28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000" u="none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Floor plans</a:t>
              </a:r>
            </a:p>
            <a:p>
              <a:pPr algn="l" marL="431801" indent="-215900" lvl="1">
                <a:lnSpc>
                  <a:spcPts val="28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000" u="none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Occupancy grids</a:t>
              </a:r>
            </a:p>
            <a:p>
              <a:pPr algn="l" marL="431801" indent="-215900" lvl="1">
                <a:lnSpc>
                  <a:spcPts val="28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000" u="none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Office layouts</a:t>
              </a:r>
            </a:p>
            <a:p>
              <a:pPr algn="l" marL="431801" indent="-215900" lvl="1">
                <a:lnSpc>
                  <a:spcPts val="28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000" u="none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Warehouse maps</a:t>
              </a:r>
            </a:p>
            <a:p>
              <a:pPr algn="l" marL="431801" indent="-215900" lvl="1">
                <a:lnSpc>
                  <a:spcPts val="28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000" u="none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Realistic indoor layouts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700440" y="3387861"/>
            <a:ext cx="7282095" cy="211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50"/>
              </a:lnSpc>
            </a:pPr>
            <a:r>
              <a:rPr lang="en-US" sz="6500" b="true">
                <a:solidFill>
                  <a:srgbClr val="2A2E3A"/>
                </a:solidFill>
                <a:latin typeface="Klein Bold"/>
                <a:ea typeface="Klein Bold"/>
                <a:cs typeface="Klein Bold"/>
                <a:sym typeface="Klein Bold"/>
              </a:rPr>
              <a:t>Dataset</a:t>
            </a:r>
          </a:p>
          <a:p>
            <a:pPr algn="l">
              <a:lnSpc>
                <a:spcPts val="8450"/>
              </a:lnSpc>
            </a:pPr>
            <a:r>
              <a:rPr lang="en-US" b="true" sz="6500">
                <a:solidFill>
                  <a:srgbClr val="718BAB"/>
                </a:solidFill>
                <a:latin typeface="Klein Bold"/>
                <a:ea typeface="Klein Bold"/>
                <a:cs typeface="Klein Bold"/>
                <a:sym typeface="Klein Bold"/>
              </a:rPr>
              <a:t>/Input Data used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3207646" y="2555725"/>
            <a:ext cx="4410633" cy="2425281"/>
            <a:chOff x="0" y="0"/>
            <a:chExt cx="1305847" cy="71804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05847" cy="718048"/>
            </a:xfrm>
            <a:custGeom>
              <a:avLst/>
              <a:gdLst/>
              <a:ahLst/>
              <a:cxnLst/>
              <a:rect r="r" b="b" t="t" l="l"/>
              <a:pathLst>
                <a:path h="718048" w="1305847">
                  <a:moveTo>
                    <a:pt x="59680" y="0"/>
                  </a:moveTo>
                  <a:lnTo>
                    <a:pt x="1246167" y="0"/>
                  </a:lnTo>
                  <a:cubicBezTo>
                    <a:pt x="1279127" y="0"/>
                    <a:pt x="1305847" y="26720"/>
                    <a:pt x="1305847" y="59680"/>
                  </a:cubicBezTo>
                  <a:lnTo>
                    <a:pt x="1305847" y="658368"/>
                  </a:lnTo>
                  <a:cubicBezTo>
                    <a:pt x="1305847" y="691328"/>
                    <a:pt x="1279127" y="718048"/>
                    <a:pt x="1246167" y="718048"/>
                  </a:cubicBezTo>
                  <a:lnTo>
                    <a:pt x="59680" y="718048"/>
                  </a:lnTo>
                  <a:cubicBezTo>
                    <a:pt x="26720" y="718048"/>
                    <a:pt x="0" y="691328"/>
                    <a:pt x="0" y="658368"/>
                  </a:cubicBezTo>
                  <a:lnTo>
                    <a:pt x="0" y="59680"/>
                  </a:lnTo>
                  <a:cubicBezTo>
                    <a:pt x="0" y="26720"/>
                    <a:pt x="26720" y="0"/>
                    <a:pt x="59680" y="0"/>
                  </a:cubicBez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66675"/>
              <a:ext cx="1305847" cy="7847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3424789" y="3006423"/>
            <a:ext cx="4520579" cy="1479223"/>
            <a:chOff x="0" y="0"/>
            <a:chExt cx="6027438" cy="1972297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-9525"/>
              <a:ext cx="5738801" cy="466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760"/>
                </a:lnSpc>
                <a:spcBef>
                  <a:spcPct val="0"/>
                </a:spcBef>
              </a:pPr>
              <a:r>
                <a:rPr lang="en-US" b="true" sz="2300">
                  <a:solidFill>
                    <a:srgbClr val="2A2E3A"/>
                  </a:solidFill>
                  <a:latin typeface="Klein Bold"/>
                  <a:ea typeface="Klein Bold"/>
                  <a:cs typeface="Klein Bold"/>
                  <a:sym typeface="Klein Bold"/>
                </a:rPr>
                <a:t>D</a:t>
              </a:r>
              <a:r>
                <a:rPr lang="en-US" b="true" sz="2300" u="none">
                  <a:solidFill>
                    <a:srgbClr val="2A2E3A"/>
                  </a:solidFill>
                  <a:latin typeface="Klein Bold"/>
                  <a:ea typeface="Klein Bold"/>
                  <a:cs typeface="Klein Bold"/>
                  <a:sym typeface="Klein Bold"/>
                </a:rPr>
                <a:t>ata Source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582706"/>
              <a:ext cx="6027438" cy="13895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31801" indent="-215900" lvl="1">
                <a:lnSpc>
                  <a:spcPts val="28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000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Internet f</a:t>
              </a:r>
              <a:r>
                <a:rPr lang="en-US" sz="2000" u="none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loorplan images</a:t>
              </a:r>
            </a:p>
            <a:p>
              <a:pPr algn="l" marL="431801" indent="-215900" lvl="1">
                <a:lnSpc>
                  <a:spcPts val="28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000" u="none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Custom o</a:t>
              </a:r>
              <a:r>
                <a:rPr lang="en-US" sz="2000" u="none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ccupancy grid images</a:t>
              </a:r>
            </a:p>
            <a:p>
              <a:pPr algn="l" marL="431801" indent="-215900" lvl="1">
                <a:lnSpc>
                  <a:spcPts val="28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000" u="none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G</a:t>
              </a:r>
              <a:r>
                <a:rPr lang="en-US" sz="2000" u="none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enerated navigation layouts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663587" y="4981006"/>
            <a:ext cx="4410633" cy="2425281"/>
            <a:chOff x="0" y="0"/>
            <a:chExt cx="1305847" cy="71804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05847" cy="718048"/>
            </a:xfrm>
            <a:custGeom>
              <a:avLst/>
              <a:gdLst/>
              <a:ahLst/>
              <a:cxnLst/>
              <a:rect r="r" b="b" t="t" l="l"/>
              <a:pathLst>
                <a:path h="718048" w="1305847">
                  <a:moveTo>
                    <a:pt x="59680" y="0"/>
                  </a:moveTo>
                  <a:lnTo>
                    <a:pt x="1246167" y="0"/>
                  </a:lnTo>
                  <a:cubicBezTo>
                    <a:pt x="1279127" y="0"/>
                    <a:pt x="1305847" y="26720"/>
                    <a:pt x="1305847" y="59680"/>
                  </a:cubicBezTo>
                  <a:lnTo>
                    <a:pt x="1305847" y="658368"/>
                  </a:lnTo>
                  <a:cubicBezTo>
                    <a:pt x="1305847" y="691328"/>
                    <a:pt x="1279127" y="718048"/>
                    <a:pt x="1246167" y="718048"/>
                  </a:cubicBezTo>
                  <a:lnTo>
                    <a:pt x="59680" y="718048"/>
                  </a:lnTo>
                  <a:cubicBezTo>
                    <a:pt x="26720" y="718048"/>
                    <a:pt x="0" y="691328"/>
                    <a:pt x="0" y="658368"/>
                  </a:cubicBezTo>
                  <a:lnTo>
                    <a:pt x="0" y="59680"/>
                  </a:lnTo>
                  <a:cubicBezTo>
                    <a:pt x="0" y="26720"/>
                    <a:pt x="26720" y="0"/>
                    <a:pt x="59680" y="0"/>
                  </a:cubicBezTo>
                  <a:close/>
                </a:path>
              </a:pathLst>
            </a:custGeom>
            <a:solidFill>
              <a:srgbClr val="C0CFE1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1305847" cy="7847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772491" y="5431704"/>
            <a:ext cx="4520579" cy="1479223"/>
            <a:chOff x="0" y="0"/>
            <a:chExt cx="6027438" cy="1972297"/>
          </a:xfrm>
        </p:grpSpPr>
        <p:sp>
          <p:nvSpPr>
            <p:cNvPr name="TextBox 20" id="20"/>
            <p:cNvSpPr txBox="true"/>
            <p:nvPr/>
          </p:nvSpPr>
          <p:spPr>
            <a:xfrm rot="0">
              <a:off x="144318" y="-9525"/>
              <a:ext cx="5738801" cy="466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760"/>
                </a:lnSpc>
                <a:spcBef>
                  <a:spcPct val="0"/>
                </a:spcBef>
              </a:pPr>
              <a:r>
                <a:rPr lang="en-US" b="true" sz="2300">
                  <a:solidFill>
                    <a:srgbClr val="2A2E3A"/>
                  </a:solidFill>
                  <a:latin typeface="Klein Bold"/>
                  <a:ea typeface="Klein Bold"/>
                  <a:cs typeface="Klein Bold"/>
                  <a:sym typeface="Klein Bold"/>
                </a:rPr>
                <a:t>D</a:t>
              </a:r>
              <a:r>
                <a:rPr lang="en-US" b="true" sz="2300" u="none">
                  <a:solidFill>
                    <a:srgbClr val="2A2E3A"/>
                  </a:solidFill>
                  <a:latin typeface="Klein Bold"/>
                  <a:ea typeface="Klein Bold"/>
                  <a:cs typeface="Klein Bold"/>
                  <a:sym typeface="Klein Bold"/>
                </a:rPr>
                <a:t>ata Type Details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0" y="582706"/>
              <a:ext cx="6027438" cy="13895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31801" indent="-215900" lvl="1">
                <a:lnSpc>
                  <a:spcPts val="28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000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Image fi</a:t>
              </a:r>
              <a:r>
                <a:rPr lang="en-US" sz="2000" u="none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les (.jpg, .png)</a:t>
              </a:r>
            </a:p>
            <a:p>
              <a:pPr algn="l" marL="431801" indent="-215900" lvl="1">
                <a:lnSpc>
                  <a:spcPts val="28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000" u="none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Binary o</a:t>
              </a:r>
              <a:r>
                <a:rPr lang="en-US" sz="2000" u="none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ccupancy grids</a:t>
              </a:r>
            </a:p>
            <a:p>
              <a:pPr algn="l" marL="431801" indent="-215900" lvl="1">
                <a:lnSpc>
                  <a:spcPts val="28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000" u="none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Gr</a:t>
              </a:r>
              <a:r>
                <a:rPr lang="en-US" sz="2000" u="none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id-based state representations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3401308" y="7008079"/>
            <a:ext cx="4410633" cy="2425281"/>
            <a:chOff x="0" y="0"/>
            <a:chExt cx="1305847" cy="71804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305847" cy="718048"/>
            </a:xfrm>
            <a:custGeom>
              <a:avLst/>
              <a:gdLst/>
              <a:ahLst/>
              <a:cxnLst/>
              <a:rect r="r" b="b" t="t" l="l"/>
              <a:pathLst>
                <a:path h="718048" w="1305847">
                  <a:moveTo>
                    <a:pt x="59680" y="0"/>
                  </a:moveTo>
                  <a:lnTo>
                    <a:pt x="1246167" y="0"/>
                  </a:lnTo>
                  <a:cubicBezTo>
                    <a:pt x="1279127" y="0"/>
                    <a:pt x="1305847" y="26720"/>
                    <a:pt x="1305847" y="59680"/>
                  </a:cubicBezTo>
                  <a:lnTo>
                    <a:pt x="1305847" y="658368"/>
                  </a:lnTo>
                  <a:cubicBezTo>
                    <a:pt x="1305847" y="691328"/>
                    <a:pt x="1279127" y="718048"/>
                    <a:pt x="1246167" y="718048"/>
                  </a:cubicBezTo>
                  <a:lnTo>
                    <a:pt x="59680" y="718048"/>
                  </a:lnTo>
                  <a:cubicBezTo>
                    <a:pt x="26720" y="718048"/>
                    <a:pt x="0" y="691328"/>
                    <a:pt x="0" y="658368"/>
                  </a:cubicBezTo>
                  <a:lnTo>
                    <a:pt x="0" y="59680"/>
                  </a:lnTo>
                  <a:cubicBezTo>
                    <a:pt x="0" y="26720"/>
                    <a:pt x="26720" y="0"/>
                    <a:pt x="59680" y="0"/>
                  </a:cubicBez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66675"/>
              <a:ext cx="1305847" cy="7847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3618451" y="7282564"/>
            <a:ext cx="4520579" cy="1831648"/>
            <a:chOff x="0" y="0"/>
            <a:chExt cx="6027438" cy="2442197"/>
          </a:xfrm>
        </p:grpSpPr>
        <p:sp>
          <p:nvSpPr>
            <p:cNvPr name="TextBox 26" id="26"/>
            <p:cNvSpPr txBox="true"/>
            <p:nvPr/>
          </p:nvSpPr>
          <p:spPr>
            <a:xfrm rot="0">
              <a:off x="0" y="-9525"/>
              <a:ext cx="5738801" cy="466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760"/>
                </a:lnSpc>
                <a:spcBef>
                  <a:spcPct val="0"/>
                </a:spcBef>
              </a:pPr>
              <a:r>
                <a:rPr lang="en-US" b="true" sz="2300">
                  <a:solidFill>
                    <a:srgbClr val="2A2E3A"/>
                  </a:solidFill>
                  <a:latin typeface="Klein Bold"/>
                  <a:ea typeface="Klein Bold"/>
                  <a:cs typeface="Klein Bold"/>
                  <a:sym typeface="Klein Bold"/>
                </a:rPr>
                <a:t>Import</a:t>
              </a:r>
              <a:r>
                <a:rPr lang="en-US" b="true" sz="2300" u="none">
                  <a:solidFill>
                    <a:srgbClr val="2A2E3A"/>
                  </a:solidFill>
                  <a:latin typeface="Klein Bold"/>
                  <a:ea typeface="Klein Bold"/>
                  <a:cs typeface="Klein Bold"/>
                  <a:sym typeface="Klein Bold"/>
                </a:rPr>
                <a:t>ant Features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0" y="582706"/>
              <a:ext cx="6027438" cy="18594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31801" indent="-215900" lvl="1">
                <a:lnSpc>
                  <a:spcPts val="28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000" u="none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Walkable regions</a:t>
              </a:r>
            </a:p>
            <a:p>
              <a:pPr algn="l" marL="431801" indent="-215900" lvl="1">
                <a:lnSpc>
                  <a:spcPts val="28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000" u="none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Obstacles/walls</a:t>
              </a:r>
            </a:p>
            <a:p>
              <a:pPr algn="l" marL="431801" indent="-215900" lvl="1">
                <a:lnSpc>
                  <a:spcPts val="28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000" u="none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St</a:t>
              </a:r>
              <a:r>
                <a:rPr lang="en-US" sz="2000" u="none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art node</a:t>
              </a:r>
            </a:p>
            <a:p>
              <a:pPr algn="l" marL="431801" indent="-215900" lvl="1">
                <a:lnSpc>
                  <a:spcPts val="28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000" u="none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Goal node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75435" y="9425940"/>
            <a:ext cx="13830300" cy="1323023"/>
            <a:chOff x="0" y="0"/>
            <a:chExt cx="18440400" cy="17640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50800" y="49305"/>
              <a:ext cx="18338477" cy="1672374"/>
            </a:xfrm>
            <a:custGeom>
              <a:avLst/>
              <a:gdLst/>
              <a:ahLst/>
              <a:cxnLst/>
              <a:rect r="r" b="b" t="t" l="l"/>
              <a:pathLst>
                <a:path h="1672374" w="18338477">
                  <a:moveTo>
                    <a:pt x="505460" y="302485"/>
                  </a:moveTo>
                  <a:cubicBezTo>
                    <a:pt x="1412240" y="186915"/>
                    <a:pt x="1954530" y="136115"/>
                    <a:pt x="2292350" y="117065"/>
                  </a:cubicBezTo>
                  <a:cubicBezTo>
                    <a:pt x="2534920" y="104365"/>
                    <a:pt x="2658110" y="114525"/>
                    <a:pt x="2921000" y="104365"/>
                  </a:cubicBezTo>
                  <a:cubicBezTo>
                    <a:pt x="3365500" y="87855"/>
                    <a:pt x="4282440" y="24355"/>
                    <a:pt x="4714240" y="9115"/>
                  </a:cubicBezTo>
                  <a:cubicBezTo>
                    <a:pt x="4958080" y="1495"/>
                    <a:pt x="5059680" y="-2315"/>
                    <a:pt x="5287010" y="1495"/>
                  </a:cubicBezTo>
                  <a:cubicBezTo>
                    <a:pt x="5623560" y="9115"/>
                    <a:pt x="6197600" y="43405"/>
                    <a:pt x="6532880" y="68805"/>
                  </a:cubicBezTo>
                  <a:cubicBezTo>
                    <a:pt x="6761480" y="86585"/>
                    <a:pt x="6915150" y="111985"/>
                    <a:pt x="7106920" y="124685"/>
                  </a:cubicBezTo>
                  <a:cubicBezTo>
                    <a:pt x="7301230" y="138655"/>
                    <a:pt x="7458710" y="142465"/>
                    <a:pt x="7691120" y="146275"/>
                  </a:cubicBezTo>
                  <a:cubicBezTo>
                    <a:pt x="8034020" y="151355"/>
                    <a:pt x="8547100" y="133575"/>
                    <a:pt x="8964930" y="139925"/>
                  </a:cubicBezTo>
                  <a:cubicBezTo>
                    <a:pt x="9370060" y="145005"/>
                    <a:pt x="9667240" y="171675"/>
                    <a:pt x="10163810" y="180565"/>
                  </a:cubicBezTo>
                  <a:cubicBezTo>
                    <a:pt x="10976610" y="194535"/>
                    <a:pt x="12736830" y="169135"/>
                    <a:pt x="13384530" y="180565"/>
                  </a:cubicBezTo>
                  <a:cubicBezTo>
                    <a:pt x="13663930" y="185645"/>
                    <a:pt x="13749020" y="197075"/>
                    <a:pt x="13985239" y="200885"/>
                  </a:cubicBezTo>
                  <a:cubicBezTo>
                    <a:pt x="14321789" y="207235"/>
                    <a:pt x="14876780" y="191995"/>
                    <a:pt x="15213330" y="198345"/>
                  </a:cubicBezTo>
                  <a:cubicBezTo>
                    <a:pt x="15448280" y="202155"/>
                    <a:pt x="15607030" y="204695"/>
                    <a:pt x="15812770" y="219935"/>
                  </a:cubicBezTo>
                  <a:cubicBezTo>
                    <a:pt x="16036289" y="236445"/>
                    <a:pt x="16245839" y="283435"/>
                    <a:pt x="16504920" y="296135"/>
                  </a:cubicBezTo>
                  <a:cubicBezTo>
                    <a:pt x="16838930" y="313915"/>
                    <a:pt x="17419320" y="269465"/>
                    <a:pt x="17650461" y="287245"/>
                  </a:cubicBezTo>
                  <a:cubicBezTo>
                    <a:pt x="17753330" y="294865"/>
                    <a:pt x="17801589" y="299945"/>
                    <a:pt x="17870170" y="324075"/>
                  </a:cubicBezTo>
                  <a:cubicBezTo>
                    <a:pt x="17940020" y="346935"/>
                    <a:pt x="18008600" y="383765"/>
                    <a:pt x="18067020" y="428215"/>
                  </a:cubicBezTo>
                  <a:cubicBezTo>
                    <a:pt x="18125439" y="472665"/>
                    <a:pt x="18178780" y="528545"/>
                    <a:pt x="18220689" y="589505"/>
                  </a:cubicBezTo>
                  <a:cubicBezTo>
                    <a:pt x="18261330" y="650465"/>
                    <a:pt x="18294350" y="720315"/>
                    <a:pt x="18313400" y="791435"/>
                  </a:cubicBezTo>
                  <a:cubicBezTo>
                    <a:pt x="18333720" y="862555"/>
                    <a:pt x="18341339" y="940025"/>
                    <a:pt x="18337530" y="1012415"/>
                  </a:cubicBezTo>
                  <a:cubicBezTo>
                    <a:pt x="18333720" y="1086075"/>
                    <a:pt x="18317211" y="1162275"/>
                    <a:pt x="18290539" y="1229585"/>
                  </a:cubicBezTo>
                  <a:cubicBezTo>
                    <a:pt x="18262600" y="1298165"/>
                    <a:pt x="18223230" y="1365475"/>
                    <a:pt x="18174970" y="1421355"/>
                  </a:cubicBezTo>
                  <a:cubicBezTo>
                    <a:pt x="18127980" y="1477235"/>
                    <a:pt x="18068289" y="1526765"/>
                    <a:pt x="18006061" y="1564865"/>
                  </a:cubicBezTo>
                  <a:cubicBezTo>
                    <a:pt x="17942561" y="1602965"/>
                    <a:pt x="17870170" y="1630905"/>
                    <a:pt x="17799050" y="1647415"/>
                  </a:cubicBezTo>
                  <a:cubicBezTo>
                    <a:pt x="17727930" y="1662655"/>
                    <a:pt x="17649189" y="1667735"/>
                    <a:pt x="17576800" y="1658845"/>
                  </a:cubicBezTo>
                  <a:cubicBezTo>
                    <a:pt x="17504411" y="1651225"/>
                    <a:pt x="17428211" y="1630905"/>
                    <a:pt x="17362170" y="1599155"/>
                  </a:cubicBezTo>
                  <a:cubicBezTo>
                    <a:pt x="17296130" y="1568675"/>
                    <a:pt x="17231361" y="1525495"/>
                    <a:pt x="17178020" y="1474695"/>
                  </a:cubicBezTo>
                  <a:cubicBezTo>
                    <a:pt x="17124680" y="1423895"/>
                    <a:pt x="17077689" y="1361665"/>
                    <a:pt x="17043400" y="1298165"/>
                  </a:cubicBezTo>
                  <a:cubicBezTo>
                    <a:pt x="17009111" y="1233395"/>
                    <a:pt x="16983711" y="1158465"/>
                    <a:pt x="16972280" y="1086075"/>
                  </a:cubicBezTo>
                  <a:cubicBezTo>
                    <a:pt x="16960850" y="1014955"/>
                    <a:pt x="16960850" y="936215"/>
                    <a:pt x="16972280" y="863825"/>
                  </a:cubicBezTo>
                  <a:cubicBezTo>
                    <a:pt x="16983711" y="791435"/>
                    <a:pt x="17009111" y="717775"/>
                    <a:pt x="17043400" y="653005"/>
                  </a:cubicBezTo>
                  <a:cubicBezTo>
                    <a:pt x="17077689" y="588235"/>
                    <a:pt x="17124680" y="526005"/>
                    <a:pt x="17178020" y="476475"/>
                  </a:cubicBezTo>
                  <a:cubicBezTo>
                    <a:pt x="17231361" y="425675"/>
                    <a:pt x="17296130" y="381225"/>
                    <a:pt x="17362170" y="350745"/>
                  </a:cubicBezTo>
                  <a:cubicBezTo>
                    <a:pt x="17428211" y="320265"/>
                    <a:pt x="17504411" y="299945"/>
                    <a:pt x="17576800" y="291055"/>
                  </a:cubicBezTo>
                  <a:cubicBezTo>
                    <a:pt x="17649189" y="283435"/>
                    <a:pt x="17727930" y="288515"/>
                    <a:pt x="17799050" y="303755"/>
                  </a:cubicBezTo>
                  <a:cubicBezTo>
                    <a:pt x="17870170" y="318995"/>
                    <a:pt x="17942561" y="348205"/>
                    <a:pt x="18006061" y="386305"/>
                  </a:cubicBezTo>
                  <a:cubicBezTo>
                    <a:pt x="18068289" y="424405"/>
                    <a:pt x="18127980" y="473935"/>
                    <a:pt x="18174970" y="529815"/>
                  </a:cubicBezTo>
                  <a:cubicBezTo>
                    <a:pt x="18223230" y="585695"/>
                    <a:pt x="18262600" y="653005"/>
                    <a:pt x="18290539" y="721585"/>
                  </a:cubicBezTo>
                  <a:cubicBezTo>
                    <a:pt x="18317211" y="788895"/>
                    <a:pt x="18333720" y="865095"/>
                    <a:pt x="18337530" y="938755"/>
                  </a:cubicBezTo>
                  <a:cubicBezTo>
                    <a:pt x="18341339" y="1011145"/>
                    <a:pt x="18333720" y="1088615"/>
                    <a:pt x="18313400" y="1159735"/>
                  </a:cubicBezTo>
                  <a:cubicBezTo>
                    <a:pt x="18294350" y="1229585"/>
                    <a:pt x="18261330" y="1300705"/>
                    <a:pt x="18220689" y="1361665"/>
                  </a:cubicBezTo>
                  <a:cubicBezTo>
                    <a:pt x="18178780" y="1422625"/>
                    <a:pt x="18125439" y="1478505"/>
                    <a:pt x="18067020" y="1522955"/>
                  </a:cubicBezTo>
                  <a:cubicBezTo>
                    <a:pt x="18008600" y="1567405"/>
                    <a:pt x="17940020" y="1604235"/>
                    <a:pt x="17870170" y="1627095"/>
                  </a:cubicBezTo>
                  <a:cubicBezTo>
                    <a:pt x="17801589" y="1651225"/>
                    <a:pt x="17755870" y="1655035"/>
                    <a:pt x="17650461" y="1663925"/>
                  </a:cubicBezTo>
                  <a:cubicBezTo>
                    <a:pt x="17391380" y="1682975"/>
                    <a:pt x="16661130" y="1666465"/>
                    <a:pt x="16291561" y="1647415"/>
                  </a:cubicBezTo>
                  <a:cubicBezTo>
                    <a:pt x="16035020" y="1634715"/>
                    <a:pt x="15855950" y="1602965"/>
                    <a:pt x="15645130" y="1590265"/>
                  </a:cubicBezTo>
                  <a:cubicBezTo>
                    <a:pt x="15441930" y="1576295"/>
                    <a:pt x="15279370" y="1569945"/>
                    <a:pt x="15046961" y="1564865"/>
                  </a:cubicBezTo>
                  <a:cubicBezTo>
                    <a:pt x="14721839" y="1558515"/>
                    <a:pt x="14207489" y="1568675"/>
                    <a:pt x="13872211" y="1561055"/>
                  </a:cubicBezTo>
                  <a:cubicBezTo>
                    <a:pt x="13622020" y="1555975"/>
                    <a:pt x="13519150" y="1542005"/>
                    <a:pt x="13216889" y="1536925"/>
                  </a:cubicBezTo>
                  <a:cubicBezTo>
                    <a:pt x="12545060" y="1524225"/>
                    <a:pt x="10622280" y="1562325"/>
                    <a:pt x="9956800" y="1535655"/>
                  </a:cubicBezTo>
                  <a:cubicBezTo>
                    <a:pt x="9662160" y="1524225"/>
                    <a:pt x="9588500" y="1497555"/>
                    <a:pt x="9320530" y="1486125"/>
                  </a:cubicBezTo>
                  <a:cubicBezTo>
                    <a:pt x="8864600" y="1467075"/>
                    <a:pt x="7909560" y="1486125"/>
                    <a:pt x="7466330" y="1474695"/>
                  </a:cubicBezTo>
                  <a:cubicBezTo>
                    <a:pt x="7219950" y="1468345"/>
                    <a:pt x="7080250" y="1469615"/>
                    <a:pt x="6888480" y="1449295"/>
                  </a:cubicBezTo>
                  <a:cubicBezTo>
                    <a:pt x="6696710" y="1428975"/>
                    <a:pt x="6515100" y="1370555"/>
                    <a:pt x="6319520" y="1351505"/>
                  </a:cubicBezTo>
                  <a:cubicBezTo>
                    <a:pt x="6116320" y="1332455"/>
                    <a:pt x="5899150" y="1347695"/>
                    <a:pt x="5689600" y="1337535"/>
                  </a:cubicBezTo>
                  <a:cubicBezTo>
                    <a:pt x="5483860" y="1328645"/>
                    <a:pt x="5279390" y="1300705"/>
                    <a:pt x="5073650" y="1293085"/>
                  </a:cubicBezTo>
                  <a:cubicBezTo>
                    <a:pt x="4866640" y="1284195"/>
                    <a:pt x="4711700" y="1289275"/>
                    <a:pt x="4448810" y="1290545"/>
                  </a:cubicBezTo>
                  <a:cubicBezTo>
                    <a:pt x="4003040" y="1295625"/>
                    <a:pt x="3100070" y="1324835"/>
                    <a:pt x="2645410" y="1327375"/>
                  </a:cubicBezTo>
                  <a:cubicBezTo>
                    <a:pt x="2367280" y="1329915"/>
                    <a:pt x="2202180" y="1317215"/>
                    <a:pt x="1974850" y="1324835"/>
                  </a:cubicBezTo>
                  <a:cubicBezTo>
                    <a:pt x="1736090" y="1332455"/>
                    <a:pt x="1471930" y="1354045"/>
                    <a:pt x="1243330" y="1379445"/>
                  </a:cubicBezTo>
                  <a:cubicBezTo>
                    <a:pt x="1040130" y="1401035"/>
                    <a:pt x="793750" y="1451835"/>
                    <a:pt x="666750" y="1461995"/>
                  </a:cubicBezTo>
                  <a:cubicBezTo>
                    <a:pt x="604520" y="1467075"/>
                    <a:pt x="571500" y="1469615"/>
                    <a:pt x="525780" y="1464535"/>
                  </a:cubicBezTo>
                  <a:cubicBezTo>
                    <a:pt x="478790" y="1459455"/>
                    <a:pt x="431800" y="1449295"/>
                    <a:pt x="387350" y="1432785"/>
                  </a:cubicBezTo>
                  <a:cubicBezTo>
                    <a:pt x="344170" y="1417545"/>
                    <a:pt x="300990" y="1395955"/>
                    <a:pt x="261620" y="1369285"/>
                  </a:cubicBezTo>
                  <a:cubicBezTo>
                    <a:pt x="222250" y="1343885"/>
                    <a:pt x="186690" y="1312135"/>
                    <a:pt x="154940" y="1277845"/>
                  </a:cubicBezTo>
                  <a:cubicBezTo>
                    <a:pt x="123190" y="1243555"/>
                    <a:pt x="95250" y="1204185"/>
                    <a:pt x="72390" y="1163545"/>
                  </a:cubicBezTo>
                  <a:cubicBezTo>
                    <a:pt x="49530" y="1122905"/>
                    <a:pt x="31750" y="1077185"/>
                    <a:pt x="20320" y="1032735"/>
                  </a:cubicBezTo>
                  <a:cubicBezTo>
                    <a:pt x="7620" y="987015"/>
                    <a:pt x="1270" y="938755"/>
                    <a:pt x="0" y="893035"/>
                  </a:cubicBezTo>
                  <a:cubicBezTo>
                    <a:pt x="0" y="846045"/>
                    <a:pt x="5080" y="797785"/>
                    <a:pt x="15240" y="752065"/>
                  </a:cubicBezTo>
                  <a:cubicBezTo>
                    <a:pt x="25400" y="706345"/>
                    <a:pt x="41910" y="660625"/>
                    <a:pt x="62230" y="618715"/>
                  </a:cubicBezTo>
                  <a:cubicBezTo>
                    <a:pt x="83820" y="576805"/>
                    <a:pt x="110490" y="537435"/>
                    <a:pt x="140970" y="501875"/>
                  </a:cubicBezTo>
                  <a:cubicBezTo>
                    <a:pt x="171450" y="466315"/>
                    <a:pt x="207010" y="433295"/>
                    <a:pt x="245110" y="406625"/>
                  </a:cubicBezTo>
                  <a:cubicBezTo>
                    <a:pt x="283210" y="378685"/>
                    <a:pt x="325120" y="355825"/>
                    <a:pt x="368300" y="338045"/>
                  </a:cubicBezTo>
                  <a:cubicBezTo>
                    <a:pt x="411480" y="321535"/>
                    <a:pt x="505460" y="302485"/>
                    <a:pt x="505460" y="302485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366250" y="2972912"/>
            <a:ext cx="1902416" cy="1902416"/>
          </a:xfrm>
          <a:custGeom>
            <a:avLst/>
            <a:gdLst/>
            <a:ahLst/>
            <a:cxnLst/>
            <a:rect r="r" b="b" t="t" l="l"/>
            <a:pathLst>
              <a:path h="1902416" w="1902416">
                <a:moveTo>
                  <a:pt x="0" y="0"/>
                </a:moveTo>
                <a:lnTo>
                  <a:pt x="1902416" y="0"/>
                </a:lnTo>
                <a:lnTo>
                  <a:pt x="1902416" y="1902416"/>
                </a:lnTo>
                <a:lnTo>
                  <a:pt x="0" y="19024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366250" y="580073"/>
            <a:ext cx="17209054" cy="1876425"/>
            <a:chOff x="0" y="0"/>
            <a:chExt cx="22945405" cy="250190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3003964" y="-76200"/>
              <a:ext cx="17399404" cy="14943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099"/>
                </a:lnSpc>
              </a:pPr>
              <a:r>
                <a:rPr lang="en-US" b="true" sz="6999">
                  <a:solidFill>
                    <a:srgbClr val="2A2E3A"/>
                  </a:solidFill>
                  <a:latin typeface="Klein Bold"/>
                  <a:ea typeface="Klein Bold"/>
                  <a:cs typeface="Klein Bold"/>
                  <a:sym typeface="Klein Bold"/>
                </a:rPr>
                <a:t>Metho</a:t>
              </a:r>
              <a:r>
                <a:rPr lang="en-US" b="true" sz="6999">
                  <a:solidFill>
                    <a:srgbClr val="718BAB"/>
                  </a:solidFill>
                  <a:latin typeface="Klein Bold"/>
                  <a:ea typeface="Klein Bold"/>
                  <a:cs typeface="Klein Bold"/>
                  <a:sym typeface="Klein Bold"/>
                </a:rPr>
                <a:t>dology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361017"/>
              <a:ext cx="22945405" cy="11408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00"/>
                </a:lnSpc>
              </a:pPr>
              <a:r>
                <a:rPr lang="en-US" sz="2500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The system fi</a:t>
              </a:r>
              <a:r>
                <a:rPr lang="en-US" sz="2500" u="none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rst converts visual environments into occupancy grids where walkable and blocked regions are identified. AI-based navigation algorithms are then applied to compute paths between the selected start and goal nodes.</a:t>
              </a:r>
            </a:p>
          </p:txBody>
        </p:sp>
      </p:grpSp>
      <p:sp>
        <p:nvSpPr>
          <p:cNvPr name="AutoShape 8" id="8"/>
          <p:cNvSpPr/>
          <p:nvPr/>
        </p:nvSpPr>
        <p:spPr>
          <a:xfrm>
            <a:off x="2268666" y="3924120"/>
            <a:ext cx="1192595" cy="0"/>
          </a:xfrm>
          <a:prstGeom prst="line">
            <a:avLst/>
          </a:prstGeom>
          <a:ln cap="flat" w="28575">
            <a:solidFill>
              <a:srgbClr val="718BAB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3461261" y="2972912"/>
            <a:ext cx="1902416" cy="1902416"/>
          </a:xfrm>
          <a:custGeom>
            <a:avLst/>
            <a:gdLst/>
            <a:ahLst/>
            <a:cxnLst/>
            <a:rect r="r" b="b" t="t" l="l"/>
            <a:pathLst>
              <a:path h="1902416" w="1902416">
                <a:moveTo>
                  <a:pt x="0" y="0"/>
                </a:moveTo>
                <a:lnTo>
                  <a:pt x="1902415" y="0"/>
                </a:lnTo>
                <a:lnTo>
                  <a:pt x="1902415" y="1902416"/>
                </a:lnTo>
                <a:lnTo>
                  <a:pt x="0" y="19024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0" id="10"/>
          <p:cNvSpPr/>
          <p:nvPr/>
        </p:nvSpPr>
        <p:spPr>
          <a:xfrm>
            <a:off x="5363676" y="3924120"/>
            <a:ext cx="1192595" cy="0"/>
          </a:xfrm>
          <a:prstGeom prst="line">
            <a:avLst/>
          </a:prstGeom>
          <a:ln cap="flat" w="28575">
            <a:solidFill>
              <a:srgbClr val="718BAB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6556271" y="2972912"/>
            <a:ext cx="1902416" cy="1902416"/>
          </a:xfrm>
          <a:custGeom>
            <a:avLst/>
            <a:gdLst/>
            <a:ahLst/>
            <a:cxnLst/>
            <a:rect r="r" b="b" t="t" l="l"/>
            <a:pathLst>
              <a:path h="1902416" w="1902416">
                <a:moveTo>
                  <a:pt x="0" y="0"/>
                </a:moveTo>
                <a:lnTo>
                  <a:pt x="1902416" y="0"/>
                </a:lnTo>
                <a:lnTo>
                  <a:pt x="1902416" y="1902416"/>
                </a:lnTo>
                <a:lnTo>
                  <a:pt x="0" y="19024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2" id="12"/>
          <p:cNvSpPr/>
          <p:nvPr/>
        </p:nvSpPr>
        <p:spPr>
          <a:xfrm>
            <a:off x="8458687" y="3924120"/>
            <a:ext cx="1192595" cy="0"/>
          </a:xfrm>
          <a:prstGeom prst="line">
            <a:avLst/>
          </a:prstGeom>
          <a:ln cap="flat" w="28575">
            <a:solidFill>
              <a:srgbClr val="718BAB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9651282" y="2972912"/>
            <a:ext cx="1902416" cy="1902416"/>
          </a:xfrm>
          <a:custGeom>
            <a:avLst/>
            <a:gdLst/>
            <a:ahLst/>
            <a:cxnLst/>
            <a:rect r="r" b="b" t="t" l="l"/>
            <a:pathLst>
              <a:path h="1902416" w="1902416">
                <a:moveTo>
                  <a:pt x="0" y="0"/>
                </a:moveTo>
                <a:lnTo>
                  <a:pt x="1902415" y="0"/>
                </a:lnTo>
                <a:lnTo>
                  <a:pt x="1902415" y="1902416"/>
                </a:lnTo>
                <a:lnTo>
                  <a:pt x="0" y="19024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651006" y="3725682"/>
            <a:ext cx="1332905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Input Image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678865" y="3585030"/>
            <a:ext cx="1467207" cy="630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Image </a:t>
            </a:r>
          </a:p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Preprocessing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895915" y="3197045"/>
            <a:ext cx="1223129" cy="1259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Binary </a:t>
            </a:r>
          </a:p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Occupancy </a:t>
            </a:r>
          </a:p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Grid </a:t>
            </a:r>
          </a:p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Generation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998366" y="3281027"/>
            <a:ext cx="1208246" cy="105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 Path 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Planning 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Algorithms</a:t>
            </a:r>
          </a:p>
        </p:txBody>
      </p:sp>
      <p:sp>
        <p:nvSpPr>
          <p:cNvPr name="AutoShape 18" id="18"/>
          <p:cNvSpPr/>
          <p:nvPr/>
        </p:nvSpPr>
        <p:spPr>
          <a:xfrm>
            <a:off x="11553697" y="3924120"/>
            <a:ext cx="1192595" cy="0"/>
          </a:xfrm>
          <a:prstGeom prst="line">
            <a:avLst/>
          </a:prstGeom>
          <a:ln cap="flat" w="28575">
            <a:solidFill>
              <a:srgbClr val="718BAB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19" id="19"/>
          <p:cNvSpPr/>
          <p:nvPr/>
        </p:nvSpPr>
        <p:spPr>
          <a:xfrm flipH="false" flipV="false" rot="0">
            <a:off x="12746292" y="2972912"/>
            <a:ext cx="1902416" cy="1902416"/>
          </a:xfrm>
          <a:custGeom>
            <a:avLst/>
            <a:gdLst/>
            <a:ahLst/>
            <a:cxnLst/>
            <a:rect r="r" b="b" t="t" l="l"/>
            <a:pathLst>
              <a:path h="1902416" w="1902416">
                <a:moveTo>
                  <a:pt x="0" y="0"/>
                </a:moveTo>
                <a:lnTo>
                  <a:pt x="1902416" y="0"/>
                </a:lnTo>
                <a:lnTo>
                  <a:pt x="1902416" y="1902416"/>
                </a:lnTo>
                <a:lnTo>
                  <a:pt x="0" y="19024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20" id="20"/>
          <p:cNvSpPr/>
          <p:nvPr/>
        </p:nvSpPr>
        <p:spPr>
          <a:xfrm>
            <a:off x="14648708" y="3924120"/>
            <a:ext cx="1192595" cy="0"/>
          </a:xfrm>
          <a:prstGeom prst="line">
            <a:avLst/>
          </a:prstGeom>
          <a:ln cap="flat" w="28575">
            <a:solidFill>
              <a:srgbClr val="718BAB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21" id="21"/>
          <p:cNvSpPr/>
          <p:nvPr/>
        </p:nvSpPr>
        <p:spPr>
          <a:xfrm flipH="false" flipV="false" rot="0">
            <a:off x="15841303" y="2972912"/>
            <a:ext cx="1902416" cy="1902416"/>
          </a:xfrm>
          <a:custGeom>
            <a:avLst/>
            <a:gdLst/>
            <a:ahLst/>
            <a:cxnLst/>
            <a:rect r="r" b="b" t="t" l="l"/>
            <a:pathLst>
              <a:path h="1902416" w="1902416">
                <a:moveTo>
                  <a:pt x="0" y="0"/>
                </a:moveTo>
                <a:lnTo>
                  <a:pt x="1902415" y="0"/>
                </a:lnTo>
                <a:lnTo>
                  <a:pt x="1902415" y="1902416"/>
                </a:lnTo>
                <a:lnTo>
                  <a:pt x="0" y="19024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3042418" y="3585030"/>
            <a:ext cx="1310164" cy="630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Pe</a:t>
            </a:r>
            <a:r>
              <a:rPr lang="en-US" sz="1800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rformance</a:t>
            </a:r>
          </a:p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 Evaluation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6060378" y="3513910"/>
            <a:ext cx="1431965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D</a:t>
            </a:r>
            <a:r>
              <a:rPr lang="en-US" sz="2000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ashboard 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Visualization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317458" y="5680253"/>
            <a:ext cx="7141229" cy="3909670"/>
            <a:chOff x="0" y="0"/>
            <a:chExt cx="2114288" cy="115752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114288" cy="1157528"/>
            </a:xfrm>
            <a:custGeom>
              <a:avLst/>
              <a:gdLst/>
              <a:ahLst/>
              <a:cxnLst/>
              <a:rect r="r" b="b" t="t" l="l"/>
              <a:pathLst>
                <a:path h="1157528" w="2114288">
                  <a:moveTo>
                    <a:pt x="36860" y="0"/>
                  </a:moveTo>
                  <a:lnTo>
                    <a:pt x="2077428" y="0"/>
                  </a:lnTo>
                  <a:cubicBezTo>
                    <a:pt x="2087204" y="0"/>
                    <a:pt x="2096580" y="3883"/>
                    <a:pt x="2103492" y="10796"/>
                  </a:cubicBezTo>
                  <a:cubicBezTo>
                    <a:pt x="2110405" y="17709"/>
                    <a:pt x="2114288" y="27084"/>
                    <a:pt x="2114288" y="36860"/>
                  </a:cubicBezTo>
                  <a:lnTo>
                    <a:pt x="2114288" y="1120668"/>
                  </a:lnTo>
                  <a:cubicBezTo>
                    <a:pt x="2114288" y="1130443"/>
                    <a:pt x="2110405" y="1139819"/>
                    <a:pt x="2103492" y="1146731"/>
                  </a:cubicBezTo>
                  <a:cubicBezTo>
                    <a:pt x="2096580" y="1153644"/>
                    <a:pt x="2087204" y="1157528"/>
                    <a:pt x="2077428" y="1157528"/>
                  </a:cubicBezTo>
                  <a:lnTo>
                    <a:pt x="36860" y="1157528"/>
                  </a:lnTo>
                  <a:cubicBezTo>
                    <a:pt x="27084" y="1157528"/>
                    <a:pt x="17709" y="1153644"/>
                    <a:pt x="10796" y="1146731"/>
                  </a:cubicBezTo>
                  <a:cubicBezTo>
                    <a:pt x="3883" y="1139819"/>
                    <a:pt x="0" y="1130443"/>
                    <a:pt x="0" y="1120668"/>
                  </a:cubicBezTo>
                  <a:lnTo>
                    <a:pt x="0" y="36860"/>
                  </a:lnTo>
                  <a:cubicBezTo>
                    <a:pt x="0" y="27084"/>
                    <a:pt x="3883" y="17709"/>
                    <a:pt x="10796" y="10796"/>
                  </a:cubicBezTo>
                  <a:cubicBezTo>
                    <a:pt x="17709" y="3883"/>
                    <a:pt x="27084" y="0"/>
                    <a:pt x="36860" y="0"/>
                  </a:cubicBezTo>
                  <a:close/>
                </a:path>
              </a:pathLst>
            </a:custGeom>
            <a:solidFill>
              <a:srgbClr val="718BAB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76200"/>
              <a:ext cx="2114288" cy="12337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899"/>
                </a:lnSpc>
              </a:pPr>
              <a:r>
                <a:rPr lang="en-US" sz="3499">
                  <a:solidFill>
                    <a:srgbClr val="FFFFFF"/>
                  </a:solidFill>
                  <a:latin typeface="Helios"/>
                  <a:ea typeface="Helios"/>
                  <a:cs typeface="Helios"/>
                  <a:sym typeface="Helios"/>
                </a:rPr>
                <a:t>Learning Approach</a:t>
              </a:r>
            </a:p>
            <a:p>
              <a:pPr algn="ctr">
                <a:lnSpc>
                  <a:spcPts val="3639"/>
                </a:lnSpc>
              </a:pPr>
            </a:p>
            <a:p>
              <a:pPr algn="l">
                <a:lnSpc>
                  <a:spcPts val="3639"/>
                </a:lnSpc>
              </a:pPr>
              <a:r>
                <a:rPr lang="en-US" sz="2599">
                  <a:solidFill>
                    <a:srgbClr val="FFFFFF"/>
                  </a:solidFill>
                  <a:latin typeface="Helios"/>
                  <a:ea typeface="Helios"/>
                  <a:cs typeface="Helios"/>
                  <a:sym typeface="Helios"/>
                </a:rPr>
                <a:t>   </a:t>
              </a:r>
              <a:r>
                <a:rPr lang="en-US" sz="2599">
                  <a:solidFill>
                    <a:srgbClr val="FFFFFF"/>
                  </a:solidFill>
                  <a:latin typeface="Helios"/>
                  <a:ea typeface="Helios"/>
                  <a:cs typeface="Helios"/>
                  <a:sym typeface="Helios"/>
                </a:rPr>
                <a:t>The project combines:</a:t>
              </a:r>
            </a:p>
            <a:p>
              <a:pPr algn="l" marL="561339" indent="-280669" lvl="1">
                <a:lnSpc>
                  <a:spcPts val="3639"/>
                </a:lnSpc>
                <a:buFont typeface="Arial"/>
                <a:buChar char="•"/>
              </a:pPr>
              <a:r>
                <a:rPr lang="en-US" sz="2599">
                  <a:solidFill>
                    <a:srgbClr val="FFFFFF"/>
                  </a:solidFill>
                  <a:latin typeface="Helios"/>
                  <a:ea typeface="Helios"/>
                  <a:cs typeface="Helios"/>
                  <a:sym typeface="Helios"/>
                </a:rPr>
                <a:t>  </a:t>
              </a:r>
              <a:r>
                <a:rPr lang="en-US" sz="2599">
                  <a:solidFill>
                    <a:srgbClr val="FFFFFF"/>
                  </a:solidFill>
                  <a:latin typeface="Helios"/>
                  <a:ea typeface="Helios"/>
                  <a:cs typeface="Helios"/>
                  <a:sym typeface="Helios"/>
                </a:rPr>
                <a:t> Classical Search Algorithms</a:t>
              </a:r>
            </a:p>
            <a:p>
              <a:pPr algn="l" marL="561339" indent="-280669" lvl="1">
                <a:lnSpc>
                  <a:spcPts val="3639"/>
                </a:lnSpc>
                <a:buFont typeface="Arial"/>
                <a:buChar char="•"/>
              </a:pPr>
              <a:r>
                <a:rPr lang="en-US" sz="2599">
                  <a:solidFill>
                    <a:srgbClr val="FFFFFF"/>
                  </a:solidFill>
                  <a:latin typeface="Helios"/>
                  <a:ea typeface="Helios"/>
                  <a:cs typeface="Helios"/>
                  <a:sym typeface="Helios"/>
                </a:rPr>
                <a:t>   Heuristic Search</a:t>
              </a:r>
            </a:p>
            <a:p>
              <a:pPr algn="l" marL="561339" indent="-280669" lvl="1">
                <a:lnSpc>
                  <a:spcPts val="3639"/>
                </a:lnSpc>
                <a:buFont typeface="Arial"/>
                <a:buChar char="•"/>
              </a:pPr>
              <a:r>
                <a:rPr lang="en-US" sz="2599">
                  <a:solidFill>
                    <a:srgbClr val="FFFFFF"/>
                  </a:solidFill>
                  <a:latin typeface="Helios"/>
                  <a:ea typeface="Helios"/>
                  <a:cs typeface="Helios"/>
                  <a:sym typeface="Helios"/>
                </a:rPr>
                <a:t>   Reinforcement Learning</a:t>
              </a:r>
            </a:p>
            <a:p>
              <a:pPr algn="l" marL="561339" indent="-280669" lvl="1">
                <a:lnSpc>
                  <a:spcPts val="3639"/>
                </a:lnSpc>
                <a:buFont typeface="Arial"/>
                <a:buChar char="•"/>
              </a:pPr>
              <a:r>
                <a:rPr lang="en-US" sz="2599">
                  <a:solidFill>
                    <a:srgbClr val="FFFFFF"/>
                  </a:solidFill>
                  <a:latin typeface="Helios"/>
                  <a:ea typeface="Helios"/>
                  <a:cs typeface="Helios"/>
                  <a:sym typeface="Helios"/>
                </a:rPr>
                <a:t>   Neural-guided Navigation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998366" y="5680253"/>
            <a:ext cx="7141229" cy="3909670"/>
            <a:chOff x="0" y="0"/>
            <a:chExt cx="2114288" cy="115752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114288" cy="1157528"/>
            </a:xfrm>
            <a:custGeom>
              <a:avLst/>
              <a:gdLst/>
              <a:ahLst/>
              <a:cxnLst/>
              <a:rect r="r" b="b" t="t" l="l"/>
              <a:pathLst>
                <a:path h="1157528" w="2114288">
                  <a:moveTo>
                    <a:pt x="36860" y="0"/>
                  </a:moveTo>
                  <a:lnTo>
                    <a:pt x="2077428" y="0"/>
                  </a:lnTo>
                  <a:cubicBezTo>
                    <a:pt x="2087204" y="0"/>
                    <a:pt x="2096580" y="3883"/>
                    <a:pt x="2103492" y="10796"/>
                  </a:cubicBezTo>
                  <a:cubicBezTo>
                    <a:pt x="2110405" y="17709"/>
                    <a:pt x="2114288" y="27084"/>
                    <a:pt x="2114288" y="36860"/>
                  </a:cubicBezTo>
                  <a:lnTo>
                    <a:pt x="2114288" y="1120668"/>
                  </a:lnTo>
                  <a:cubicBezTo>
                    <a:pt x="2114288" y="1130443"/>
                    <a:pt x="2110405" y="1139819"/>
                    <a:pt x="2103492" y="1146731"/>
                  </a:cubicBezTo>
                  <a:cubicBezTo>
                    <a:pt x="2096580" y="1153644"/>
                    <a:pt x="2087204" y="1157528"/>
                    <a:pt x="2077428" y="1157528"/>
                  </a:cubicBezTo>
                  <a:lnTo>
                    <a:pt x="36860" y="1157528"/>
                  </a:lnTo>
                  <a:cubicBezTo>
                    <a:pt x="27084" y="1157528"/>
                    <a:pt x="17709" y="1153644"/>
                    <a:pt x="10796" y="1146731"/>
                  </a:cubicBezTo>
                  <a:cubicBezTo>
                    <a:pt x="3883" y="1139819"/>
                    <a:pt x="0" y="1130443"/>
                    <a:pt x="0" y="1120668"/>
                  </a:cubicBezTo>
                  <a:lnTo>
                    <a:pt x="0" y="36860"/>
                  </a:lnTo>
                  <a:cubicBezTo>
                    <a:pt x="0" y="27084"/>
                    <a:pt x="3883" y="17709"/>
                    <a:pt x="10796" y="10796"/>
                  </a:cubicBezTo>
                  <a:cubicBezTo>
                    <a:pt x="17709" y="3883"/>
                    <a:pt x="27084" y="0"/>
                    <a:pt x="36860" y="0"/>
                  </a:cubicBezTo>
                  <a:close/>
                </a:path>
              </a:pathLst>
            </a:custGeom>
            <a:solidFill>
              <a:srgbClr val="718BAB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76200"/>
              <a:ext cx="2114288" cy="12337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899"/>
                </a:lnSpc>
              </a:pPr>
              <a:r>
                <a:rPr lang="en-US" sz="3499">
                  <a:solidFill>
                    <a:srgbClr val="FFFFFF"/>
                  </a:solidFill>
                  <a:latin typeface="Helios"/>
                  <a:ea typeface="Helios"/>
                  <a:cs typeface="Helios"/>
                  <a:sym typeface="Helios"/>
                </a:rPr>
                <a:t>Optimization Method</a:t>
              </a:r>
            </a:p>
            <a:p>
              <a:pPr algn="ctr">
                <a:lnSpc>
                  <a:spcPts val="3639"/>
                </a:lnSpc>
              </a:pPr>
            </a:p>
            <a:p>
              <a:pPr algn="ctr">
                <a:lnSpc>
                  <a:spcPts val="3639"/>
                </a:lnSpc>
              </a:pPr>
              <a:r>
                <a:rPr lang="en-US" sz="2599">
                  <a:solidFill>
                    <a:srgbClr val="FFFFFF"/>
                  </a:solidFill>
                  <a:latin typeface="Helios"/>
                  <a:ea typeface="Helios"/>
                  <a:cs typeface="Helios"/>
                  <a:sym typeface="Helios"/>
                </a:rPr>
                <a:t>A* search uses heuristic optimization:</a:t>
              </a:r>
            </a:p>
            <a:p>
              <a:pPr algn="ctr">
                <a:lnSpc>
                  <a:spcPts val="3639"/>
                </a:lnSpc>
              </a:pPr>
            </a:p>
            <a:p>
              <a:pPr algn="ctr">
                <a:lnSpc>
                  <a:spcPts val="3639"/>
                </a:lnSpc>
              </a:pPr>
              <a:r>
                <a:rPr lang="en-US" sz="2599">
                  <a:solidFill>
                    <a:srgbClr val="FFFFFF"/>
                  </a:solidFill>
                  <a:latin typeface="Helios"/>
                  <a:ea typeface="Helios"/>
                  <a:cs typeface="Helios"/>
                  <a:sym typeface="Helios"/>
                </a:rPr>
                <a:t>f(n) = g(n) + h(n)</a:t>
              </a:r>
            </a:p>
            <a:p>
              <a:pPr algn="ctr">
                <a:lnSpc>
                  <a:spcPts val="3639"/>
                </a:lnSpc>
              </a:pPr>
            </a:p>
            <a:p>
              <a:pPr algn="ctr">
                <a:lnSpc>
                  <a:spcPts val="3639"/>
                </a:lnSpc>
              </a:pPr>
              <a:r>
                <a:rPr lang="en-US" sz="2599">
                  <a:solidFill>
                    <a:srgbClr val="FFFFFF"/>
                  </a:solidFill>
                  <a:latin typeface="Helios"/>
                  <a:ea typeface="Helios"/>
                  <a:cs typeface="Helios"/>
                  <a:sym typeface="Helios"/>
                </a:rPr>
                <a:t>This reduces unnecessary exploration and improves path efficiency.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906362"/>
            <a:ext cx="6044810" cy="2808978"/>
            <a:chOff x="0" y="0"/>
            <a:chExt cx="8059746" cy="3745304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66675"/>
              <a:ext cx="8059746" cy="28505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580"/>
                </a:lnSpc>
              </a:pPr>
              <a:r>
                <a:rPr lang="en-US" sz="6600" b="true">
                  <a:solidFill>
                    <a:srgbClr val="2A2E3A"/>
                  </a:solidFill>
                  <a:latin typeface="Klein Bold"/>
                  <a:ea typeface="Klein Bold"/>
                  <a:cs typeface="Klein Bold"/>
                  <a:sym typeface="Klein Bold"/>
                </a:rPr>
                <a:t>AI</a:t>
              </a:r>
              <a:r>
                <a:rPr lang="en-US" b="true" sz="6600">
                  <a:solidFill>
                    <a:srgbClr val="2A2E3A"/>
                  </a:solidFill>
                  <a:latin typeface="Klein Bold"/>
                  <a:ea typeface="Klein Bold"/>
                  <a:cs typeface="Klein Bold"/>
                  <a:sym typeface="Klein Bold"/>
                </a:rPr>
                <a:t> Algorithms </a:t>
              </a:r>
              <a:r>
                <a:rPr lang="en-US" b="true" sz="6600">
                  <a:solidFill>
                    <a:srgbClr val="718BAB"/>
                  </a:solidFill>
                  <a:latin typeface="Klein Bold"/>
                  <a:ea typeface="Klein Bold"/>
                  <a:cs typeface="Klein Bold"/>
                  <a:sym typeface="Klein Bold"/>
                </a:rPr>
                <a:t>Used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3037702"/>
              <a:ext cx="7143583" cy="7076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995561" y="1028700"/>
            <a:ext cx="8144871" cy="1344427"/>
            <a:chOff x="0" y="0"/>
            <a:chExt cx="10859828" cy="179256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627748"/>
              <a:ext cx="569682" cy="569682"/>
            </a:xfrm>
            <a:custGeom>
              <a:avLst/>
              <a:gdLst/>
              <a:ahLst/>
              <a:cxnLst/>
              <a:rect r="r" b="b" t="t" l="l"/>
              <a:pathLst>
                <a:path h="569682" w="569682">
                  <a:moveTo>
                    <a:pt x="0" y="0"/>
                  </a:moveTo>
                  <a:lnTo>
                    <a:pt x="569682" y="0"/>
                  </a:lnTo>
                  <a:lnTo>
                    <a:pt x="569682" y="569682"/>
                  </a:lnTo>
                  <a:lnTo>
                    <a:pt x="0" y="5696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1353292" y="-66675"/>
              <a:ext cx="9506535" cy="18592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748"/>
                </a:lnSpc>
                <a:spcBef>
                  <a:spcPct val="0"/>
                </a:spcBef>
              </a:pPr>
              <a:r>
                <a:rPr lang="en-US" sz="2677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Breadth F</a:t>
              </a:r>
              <a:r>
                <a:rPr lang="en-US" sz="2677" u="none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irst Search (BFS)</a:t>
              </a:r>
            </a:p>
            <a:p>
              <a:pPr algn="l" marL="578050" indent="-289025" lvl="1">
                <a:lnSpc>
                  <a:spcPts val="3748"/>
                </a:lnSpc>
                <a:buFont typeface="Arial"/>
                <a:buChar char="•"/>
              </a:pPr>
              <a:r>
                <a:rPr lang="en-US" sz="2677" u="none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Queue-based search algorithm</a:t>
              </a:r>
            </a:p>
            <a:p>
              <a:pPr algn="l" marL="578050" indent="-289025" lvl="1">
                <a:lnSpc>
                  <a:spcPts val="3748"/>
                </a:lnSpc>
                <a:buFont typeface="Arial"/>
                <a:buChar char="•"/>
              </a:pPr>
              <a:r>
                <a:rPr lang="en-US" sz="2677" u="none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Guarantees shortest path in uniform grids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995561" y="3103874"/>
            <a:ext cx="7764327" cy="1344427"/>
            <a:chOff x="0" y="0"/>
            <a:chExt cx="10352436" cy="179256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611444"/>
              <a:ext cx="569682" cy="569682"/>
            </a:xfrm>
            <a:custGeom>
              <a:avLst/>
              <a:gdLst/>
              <a:ahLst/>
              <a:cxnLst/>
              <a:rect r="r" b="b" t="t" l="l"/>
              <a:pathLst>
                <a:path h="569682" w="569682">
                  <a:moveTo>
                    <a:pt x="0" y="0"/>
                  </a:moveTo>
                  <a:lnTo>
                    <a:pt x="569682" y="0"/>
                  </a:lnTo>
                  <a:lnTo>
                    <a:pt x="569682" y="569682"/>
                  </a:lnTo>
                  <a:lnTo>
                    <a:pt x="0" y="5696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 rot="0">
              <a:off x="1353292" y="-66675"/>
              <a:ext cx="8999144" cy="18592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748"/>
                </a:lnSpc>
                <a:spcBef>
                  <a:spcPct val="0"/>
                </a:spcBef>
              </a:pPr>
              <a:r>
                <a:rPr lang="en-US" sz="2677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Depth F</a:t>
              </a:r>
              <a:r>
                <a:rPr lang="en-US" sz="2677" u="none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irst Search (DFS)</a:t>
              </a:r>
            </a:p>
            <a:p>
              <a:pPr algn="l" marL="578050" indent="-289025" lvl="1">
                <a:lnSpc>
                  <a:spcPts val="3748"/>
                </a:lnSpc>
                <a:buFont typeface="Arial"/>
                <a:buChar char="•"/>
              </a:pPr>
              <a:r>
                <a:rPr lang="en-US" sz="2677" u="none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Stack-based traversal</a:t>
              </a:r>
            </a:p>
            <a:p>
              <a:pPr algn="l" marL="578050" indent="-289025" lvl="1">
                <a:lnSpc>
                  <a:spcPts val="3748"/>
                </a:lnSpc>
                <a:buFont typeface="Arial"/>
                <a:buChar char="•"/>
              </a:pPr>
              <a:r>
                <a:rPr lang="en-US" sz="2677" u="none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Explores deep paths first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995561" y="5179049"/>
            <a:ext cx="7764327" cy="1815238"/>
            <a:chOff x="0" y="0"/>
            <a:chExt cx="10352436" cy="242031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925318"/>
              <a:ext cx="569682" cy="569682"/>
            </a:xfrm>
            <a:custGeom>
              <a:avLst/>
              <a:gdLst/>
              <a:ahLst/>
              <a:cxnLst/>
              <a:rect r="r" b="b" t="t" l="l"/>
              <a:pathLst>
                <a:path h="569682" w="569682">
                  <a:moveTo>
                    <a:pt x="0" y="0"/>
                  </a:moveTo>
                  <a:lnTo>
                    <a:pt x="569682" y="0"/>
                  </a:lnTo>
                  <a:lnTo>
                    <a:pt x="569682" y="569682"/>
                  </a:lnTo>
                  <a:lnTo>
                    <a:pt x="0" y="5696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 rot="0">
              <a:off x="1353292" y="-66675"/>
              <a:ext cx="8999144" cy="24869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748"/>
                </a:lnSpc>
                <a:spcBef>
                  <a:spcPct val="0"/>
                </a:spcBef>
              </a:pPr>
              <a:r>
                <a:rPr lang="en-US" sz="2677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A* Search Algor</a:t>
              </a:r>
              <a:r>
                <a:rPr lang="en-US" sz="2677" u="none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ithm</a:t>
              </a:r>
            </a:p>
            <a:p>
              <a:pPr algn="l" marL="578050" indent="-289025" lvl="1">
                <a:lnSpc>
                  <a:spcPts val="3748"/>
                </a:lnSpc>
                <a:buFont typeface="Arial"/>
                <a:buChar char="•"/>
              </a:pPr>
              <a:r>
                <a:rPr lang="en-US" sz="2677" u="none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Heuristic-based optimal path planning</a:t>
              </a:r>
            </a:p>
            <a:p>
              <a:pPr algn="l" marL="578050" indent="-289025" lvl="1">
                <a:lnSpc>
                  <a:spcPts val="3748"/>
                </a:lnSpc>
                <a:buFont typeface="Arial"/>
                <a:buChar char="•"/>
              </a:pPr>
              <a:r>
                <a:rPr lang="en-US" sz="2677" u="none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Uses cost function:</a:t>
              </a:r>
            </a:p>
            <a:p>
              <a:pPr algn="l" marL="0" indent="0" lvl="0">
                <a:lnSpc>
                  <a:spcPts val="3748"/>
                </a:lnSpc>
                <a:spcBef>
                  <a:spcPct val="0"/>
                </a:spcBef>
              </a:pPr>
              <a:r>
                <a:rPr lang="en-US" sz="2677" u="none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                         </a:t>
              </a:r>
              <a:r>
                <a:rPr lang="en-US" sz="2677" u="none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f(n) = g(n) + h(n)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995561" y="7808878"/>
            <a:ext cx="7764327" cy="1815238"/>
            <a:chOff x="0" y="0"/>
            <a:chExt cx="10352436" cy="242031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925318"/>
              <a:ext cx="569682" cy="569682"/>
            </a:xfrm>
            <a:custGeom>
              <a:avLst/>
              <a:gdLst/>
              <a:ahLst/>
              <a:cxnLst/>
              <a:rect r="r" b="b" t="t" l="l"/>
              <a:pathLst>
                <a:path h="569682" w="569682">
                  <a:moveTo>
                    <a:pt x="0" y="0"/>
                  </a:moveTo>
                  <a:lnTo>
                    <a:pt x="569682" y="0"/>
                  </a:lnTo>
                  <a:lnTo>
                    <a:pt x="569682" y="569682"/>
                  </a:lnTo>
                  <a:lnTo>
                    <a:pt x="0" y="5696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 rot="0">
              <a:off x="1353292" y="-66675"/>
              <a:ext cx="8999144" cy="24869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48"/>
                </a:lnSpc>
              </a:pPr>
              <a:r>
                <a:rPr lang="en-US" sz="2677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Heuristics Used</a:t>
              </a:r>
            </a:p>
            <a:p>
              <a:pPr algn="l" marL="578050" indent="-289025" lvl="1">
                <a:lnSpc>
                  <a:spcPts val="3748"/>
                </a:lnSpc>
                <a:buFont typeface="Arial"/>
                <a:buChar char="•"/>
              </a:pPr>
              <a:r>
                <a:rPr lang="en-US" sz="2677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Manhattan D</a:t>
              </a:r>
              <a:r>
                <a:rPr lang="en-US" sz="2677" u="none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istance</a:t>
              </a:r>
            </a:p>
            <a:p>
              <a:pPr algn="l" marL="578050" indent="-289025" lvl="1">
                <a:lnSpc>
                  <a:spcPts val="3748"/>
                </a:lnSpc>
                <a:buFont typeface="Arial"/>
                <a:buChar char="•"/>
              </a:pPr>
              <a:r>
                <a:rPr lang="en-US" sz="2677" u="none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Euclidean Distance</a:t>
              </a:r>
            </a:p>
            <a:p>
              <a:pPr algn="l" marL="578050" indent="-289025" lvl="1">
                <a:lnSpc>
                  <a:spcPts val="3748"/>
                </a:lnSpc>
                <a:buFont typeface="Arial"/>
                <a:buChar char="•"/>
              </a:pPr>
              <a:r>
                <a:rPr lang="en-US" sz="2677" u="none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Chebyshev Distance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-3407200" y="4432068"/>
            <a:ext cx="5764383" cy="5764383"/>
          </a:xfrm>
          <a:custGeom>
            <a:avLst/>
            <a:gdLst/>
            <a:ahLst/>
            <a:cxnLst/>
            <a:rect r="r" b="b" t="t" l="l"/>
            <a:pathLst>
              <a:path h="5764383" w="5764383">
                <a:moveTo>
                  <a:pt x="0" y="0"/>
                </a:moveTo>
                <a:lnTo>
                  <a:pt x="5764383" y="0"/>
                </a:lnTo>
                <a:lnTo>
                  <a:pt x="5764383" y="5764383"/>
                </a:lnTo>
                <a:lnTo>
                  <a:pt x="0" y="57643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57078" y="7902203"/>
            <a:ext cx="5764383" cy="5764383"/>
          </a:xfrm>
          <a:custGeom>
            <a:avLst/>
            <a:gdLst/>
            <a:ahLst/>
            <a:cxnLst/>
            <a:rect r="r" b="b" t="t" l="l"/>
            <a:pathLst>
              <a:path h="5764383" w="5764383">
                <a:moveTo>
                  <a:pt x="0" y="0"/>
                </a:moveTo>
                <a:lnTo>
                  <a:pt x="5764383" y="0"/>
                </a:lnTo>
                <a:lnTo>
                  <a:pt x="5764383" y="5764382"/>
                </a:lnTo>
                <a:lnTo>
                  <a:pt x="0" y="57643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296844" y="-1836715"/>
            <a:ext cx="13960430" cy="13960430"/>
          </a:xfrm>
          <a:custGeom>
            <a:avLst/>
            <a:gdLst/>
            <a:ahLst/>
            <a:cxnLst/>
            <a:rect r="r" b="b" t="t" l="l"/>
            <a:pathLst>
              <a:path h="13960430" w="13960430">
                <a:moveTo>
                  <a:pt x="0" y="0"/>
                </a:moveTo>
                <a:lnTo>
                  <a:pt x="13960431" y="0"/>
                </a:lnTo>
                <a:lnTo>
                  <a:pt x="13960431" y="13960430"/>
                </a:lnTo>
                <a:lnTo>
                  <a:pt x="0" y="139604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3192157"/>
            <a:ext cx="5857752" cy="4176054"/>
            <a:chOff x="0" y="0"/>
            <a:chExt cx="7810335" cy="5568072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76200"/>
              <a:ext cx="7810335" cy="39734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930"/>
                </a:lnSpc>
              </a:pPr>
              <a:r>
                <a:rPr lang="en-US" sz="6100" b="true">
                  <a:solidFill>
                    <a:srgbClr val="2A2E3A"/>
                  </a:solidFill>
                  <a:latin typeface="Klein Bold"/>
                  <a:ea typeface="Klein Bold"/>
                  <a:cs typeface="Klein Bold"/>
                  <a:sym typeface="Klein Bold"/>
                </a:rPr>
                <a:t>Reinforcement Lea</a:t>
              </a:r>
              <a:r>
                <a:rPr lang="en-US" b="true" sz="6100">
                  <a:solidFill>
                    <a:srgbClr val="2A2E3A"/>
                  </a:solidFill>
                  <a:latin typeface="Klein Bold"/>
                  <a:ea typeface="Klein Bold"/>
                  <a:cs typeface="Klein Bold"/>
                  <a:sym typeface="Klein Bold"/>
                </a:rPr>
                <a:t>rning </a:t>
              </a:r>
            </a:p>
            <a:p>
              <a:pPr algn="l">
                <a:lnSpc>
                  <a:spcPts val="7930"/>
                </a:lnSpc>
              </a:pPr>
              <a:r>
                <a:rPr lang="en-US" b="true" sz="6100">
                  <a:solidFill>
                    <a:srgbClr val="718BAB"/>
                  </a:solidFill>
                  <a:latin typeface="Klein Bold"/>
                  <a:ea typeface="Klein Bold"/>
                  <a:cs typeface="Klein Bold"/>
                  <a:sym typeface="Klein Bold"/>
                </a:rPr>
                <a:t>&amp; MDP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4860470"/>
              <a:ext cx="7025100" cy="7076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7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8834175" y="1396147"/>
            <a:ext cx="1821708" cy="1821708"/>
          </a:xfrm>
          <a:custGeom>
            <a:avLst/>
            <a:gdLst/>
            <a:ahLst/>
            <a:cxnLst/>
            <a:rect r="r" b="b" t="t" l="l"/>
            <a:pathLst>
              <a:path h="1821708" w="1821708">
                <a:moveTo>
                  <a:pt x="0" y="0"/>
                </a:moveTo>
                <a:lnTo>
                  <a:pt x="1821708" y="0"/>
                </a:lnTo>
                <a:lnTo>
                  <a:pt x="1821708" y="1821709"/>
                </a:lnTo>
                <a:lnTo>
                  <a:pt x="0" y="18217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4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023347" y="1585319"/>
            <a:ext cx="1443365" cy="1443365"/>
          </a:xfrm>
          <a:custGeom>
            <a:avLst/>
            <a:gdLst/>
            <a:ahLst/>
            <a:cxnLst/>
            <a:rect r="r" b="b" t="t" l="l"/>
            <a:pathLst>
              <a:path h="1443365" w="1443365">
                <a:moveTo>
                  <a:pt x="0" y="0"/>
                </a:moveTo>
                <a:lnTo>
                  <a:pt x="1443365" y="0"/>
                </a:lnTo>
                <a:lnTo>
                  <a:pt x="1443365" y="1443365"/>
                </a:lnTo>
                <a:lnTo>
                  <a:pt x="0" y="144336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1453306" y="1618933"/>
            <a:ext cx="6427706" cy="2138138"/>
            <a:chOff x="0" y="0"/>
            <a:chExt cx="8570275" cy="285085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9525"/>
              <a:ext cx="8570275" cy="631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720"/>
                </a:lnSpc>
                <a:spcBef>
                  <a:spcPct val="0"/>
                </a:spcBef>
              </a:pPr>
              <a:r>
                <a:rPr lang="en-US" b="true" sz="3100">
                  <a:solidFill>
                    <a:srgbClr val="2A2E3A"/>
                  </a:solidFill>
                  <a:latin typeface="Klein Bold"/>
                  <a:ea typeface="Klein Bold"/>
                  <a:cs typeface="Klein Bold"/>
                  <a:sym typeface="Klein Bold"/>
                </a:rPr>
                <a:t>M</a:t>
              </a:r>
              <a:r>
                <a:rPr lang="en-US" b="true" sz="3100" u="none">
                  <a:solidFill>
                    <a:srgbClr val="2A2E3A"/>
                  </a:solidFill>
                  <a:latin typeface="Klein Bold"/>
                  <a:ea typeface="Klein Bold"/>
                  <a:cs typeface="Klein Bold"/>
                  <a:sym typeface="Klein Bold"/>
                </a:rPr>
                <a:t>arkov Decision Process (MDP)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794932"/>
              <a:ext cx="8570275" cy="20559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80"/>
                </a:lnSpc>
                <a:spcBef>
                  <a:spcPct val="0"/>
                </a:spcBef>
              </a:pPr>
              <a:r>
                <a:rPr lang="en-US" sz="2200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* Uses Va</a:t>
              </a:r>
              <a:r>
                <a:rPr lang="en-US" sz="2200" u="none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lue Iteration</a:t>
              </a:r>
            </a:p>
            <a:p>
              <a:pPr algn="l" marL="0" indent="0" lvl="0">
                <a:lnSpc>
                  <a:spcPts val="3080"/>
                </a:lnSpc>
                <a:spcBef>
                  <a:spcPct val="0"/>
                </a:spcBef>
              </a:pPr>
              <a:r>
                <a:rPr lang="en-US" sz="2200" u="none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* Computes optimal state values</a:t>
              </a:r>
            </a:p>
            <a:p>
              <a:pPr algn="l" marL="0" indent="0" lvl="0">
                <a:lnSpc>
                  <a:spcPts val="3080"/>
                </a:lnSpc>
                <a:spcBef>
                  <a:spcPct val="0"/>
                </a:spcBef>
              </a:pPr>
              <a:r>
                <a:rPr lang="en-US" sz="2200" u="none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* Uses Bellman updates for navigation</a:t>
              </a:r>
            </a:p>
            <a:p>
              <a:pPr algn="l" marL="0" indent="0" lvl="0">
                <a:lnSpc>
                  <a:spcPts val="308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8834175" y="4494206"/>
            <a:ext cx="1821708" cy="1821708"/>
          </a:xfrm>
          <a:custGeom>
            <a:avLst/>
            <a:gdLst/>
            <a:ahLst/>
            <a:cxnLst/>
            <a:rect r="r" b="b" t="t" l="l"/>
            <a:pathLst>
              <a:path h="1821708" w="1821708">
                <a:moveTo>
                  <a:pt x="0" y="0"/>
                </a:moveTo>
                <a:lnTo>
                  <a:pt x="1821708" y="0"/>
                </a:lnTo>
                <a:lnTo>
                  <a:pt x="1821708" y="1821708"/>
                </a:lnTo>
                <a:lnTo>
                  <a:pt x="0" y="182170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44999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023347" y="4683377"/>
            <a:ext cx="1443365" cy="1443365"/>
          </a:xfrm>
          <a:custGeom>
            <a:avLst/>
            <a:gdLst/>
            <a:ahLst/>
            <a:cxnLst/>
            <a:rect r="r" b="b" t="t" l="l"/>
            <a:pathLst>
              <a:path h="1443365" w="1443365">
                <a:moveTo>
                  <a:pt x="0" y="0"/>
                </a:moveTo>
                <a:lnTo>
                  <a:pt x="1443365" y="0"/>
                </a:lnTo>
                <a:lnTo>
                  <a:pt x="1443365" y="1443365"/>
                </a:lnTo>
                <a:lnTo>
                  <a:pt x="0" y="144336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1399022" y="4372821"/>
            <a:ext cx="7882778" cy="2064478"/>
            <a:chOff x="0" y="0"/>
            <a:chExt cx="10510370" cy="2752637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-9525"/>
              <a:ext cx="10510370" cy="631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720"/>
                </a:lnSpc>
                <a:spcBef>
                  <a:spcPct val="0"/>
                </a:spcBef>
              </a:pPr>
              <a:r>
                <a:rPr lang="en-US" b="true" sz="3100">
                  <a:solidFill>
                    <a:srgbClr val="2A2E3A"/>
                  </a:solidFill>
                  <a:latin typeface="Klein Bold"/>
                  <a:ea typeface="Klein Bold"/>
                  <a:cs typeface="Klein Bold"/>
                  <a:sym typeface="Klein Bold"/>
                </a:rPr>
                <a:t>Q-Le</a:t>
              </a:r>
              <a:r>
                <a:rPr lang="en-US" b="true" sz="3100" u="none">
                  <a:solidFill>
                    <a:srgbClr val="2A2E3A"/>
                  </a:solidFill>
                  <a:latin typeface="Klein Bold"/>
                  <a:ea typeface="Klein Bold"/>
                  <a:cs typeface="Klein Bold"/>
                  <a:sym typeface="Klein Bold"/>
                </a:rPr>
                <a:t>arning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794932"/>
              <a:ext cx="10510370" cy="19577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53392" indent="-226696" lvl="1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Reinforcement Learning based approach</a:t>
              </a:r>
            </a:p>
            <a:p>
              <a:pPr algn="l" marL="453392" indent="-226696" lvl="1">
                <a:lnSpc>
                  <a:spcPts val="294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100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Learns navig</a:t>
              </a:r>
              <a:r>
                <a:rPr lang="en-US" sz="2100" u="none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ation through environment interaction</a:t>
              </a:r>
            </a:p>
            <a:p>
              <a:pPr algn="l" marL="453392" indent="-226696" lvl="1">
                <a:lnSpc>
                  <a:spcPts val="294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100" u="none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Uses ε-greedy strategy for exploration and learning</a:t>
              </a:r>
            </a:p>
            <a:p>
              <a:pPr algn="l" marL="453392" indent="-226696" lvl="1">
                <a:lnSpc>
                  <a:spcPts val="294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100" u="none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Generates paths using learned state-action values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8834175" y="7592264"/>
            <a:ext cx="1821708" cy="1821708"/>
          </a:xfrm>
          <a:custGeom>
            <a:avLst/>
            <a:gdLst/>
            <a:ahLst/>
            <a:cxnLst/>
            <a:rect r="r" b="b" t="t" l="l"/>
            <a:pathLst>
              <a:path h="1821708" w="1821708">
                <a:moveTo>
                  <a:pt x="0" y="0"/>
                </a:moveTo>
                <a:lnTo>
                  <a:pt x="1821708" y="0"/>
                </a:lnTo>
                <a:lnTo>
                  <a:pt x="1821708" y="1821708"/>
                </a:lnTo>
                <a:lnTo>
                  <a:pt x="0" y="182170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44999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9023347" y="7781436"/>
            <a:ext cx="1443365" cy="1443365"/>
          </a:xfrm>
          <a:custGeom>
            <a:avLst/>
            <a:gdLst/>
            <a:ahLst/>
            <a:cxnLst/>
            <a:rect r="r" b="b" t="t" l="l"/>
            <a:pathLst>
              <a:path h="1443365" w="1443365">
                <a:moveTo>
                  <a:pt x="0" y="0"/>
                </a:moveTo>
                <a:lnTo>
                  <a:pt x="1443365" y="0"/>
                </a:lnTo>
                <a:lnTo>
                  <a:pt x="1443365" y="1443365"/>
                </a:lnTo>
                <a:lnTo>
                  <a:pt x="0" y="144336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11453306" y="7238787"/>
            <a:ext cx="6635573" cy="2528663"/>
            <a:chOff x="0" y="0"/>
            <a:chExt cx="8847431" cy="3371550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0" y="-9525"/>
              <a:ext cx="8847431" cy="631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720"/>
                </a:lnSpc>
                <a:spcBef>
                  <a:spcPct val="0"/>
                </a:spcBef>
              </a:pPr>
              <a:r>
                <a:rPr lang="en-US" b="true" sz="3100">
                  <a:solidFill>
                    <a:srgbClr val="2A2E3A"/>
                  </a:solidFill>
                  <a:latin typeface="Klein Bold"/>
                  <a:ea typeface="Klein Bold"/>
                  <a:cs typeface="Klein Bold"/>
                  <a:sym typeface="Klein Bold"/>
                </a:rPr>
                <a:t>Key Fe</a:t>
              </a:r>
              <a:r>
                <a:rPr lang="en-US" b="true" sz="3100" u="none">
                  <a:solidFill>
                    <a:srgbClr val="2A2E3A"/>
                  </a:solidFill>
                  <a:latin typeface="Klein Bold"/>
                  <a:ea typeface="Klein Bold"/>
                  <a:cs typeface="Klein Bold"/>
                  <a:sym typeface="Klein Bold"/>
                </a:rPr>
                <a:t>ature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794932"/>
              <a:ext cx="8847431" cy="25766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80"/>
                </a:lnSpc>
                <a:spcBef>
                  <a:spcPct val="0"/>
                </a:spcBef>
              </a:pPr>
              <a:r>
                <a:rPr lang="en-US" sz="2200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The system provides </a:t>
              </a:r>
              <a:r>
                <a:rPr lang="en-US" sz="2200" u="none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an interactive dashboard where users can run different AI algorithms on the same environment and compare their path planning behavior, explored nodes, execution time, and navigation efficiency in real time.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667321"/>
            <a:ext cx="18288000" cy="7229439"/>
          </a:xfrm>
          <a:custGeom>
            <a:avLst/>
            <a:gdLst/>
            <a:ahLst/>
            <a:cxnLst/>
            <a:rect r="r" b="b" t="t" l="l"/>
            <a:pathLst>
              <a:path h="7229439" w="18288000">
                <a:moveTo>
                  <a:pt x="0" y="0"/>
                </a:moveTo>
                <a:lnTo>
                  <a:pt x="18288000" y="0"/>
                </a:lnTo>
                <a:lnTo>
                  <a:pt x="18288000" y="7229439"/>
                </a:lnTo>
                <a:lnTo>
                  <a:pt x="0" y="72294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212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122651" y="952500"/>
            <a:ext cx="14042698" cy="1157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29"/>
              </a:lnSpc>
            </a:pPr>
            <a:r>
              <a:rPr lang="en-US" b="true" sz="7099">
                <a:solidFill>
                  <a:srgbClr val="153969"/>
                </a:solidFill>
                <a:latin typeface="Klein Bold"/>
                <a:ea typeface="Klein Bold"/>
                <a:cs typeface="Klein Bold"/>
                <a:sym typeface="Klein Bold"/>
              </a:rPr>
              <a:t>Neural Network + </a:t>
            </a:r>
            <a:r>
              <a:rPr lang="en-US" b="true" sz="7099">
                <a:solidFill>
                  <a:srgbClr val="F4F4F4"/>
                </a:solidFill>
                <a:latin typeface="Klein Bold"/>
                <a:ea typeface="Klein Bold"/>
                <a:cs typeface="Klein Bold"/>
                <a:sym typeface="Klein Bold"/>
              </a:rPr>
              <a:t>Dashboard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8700" y="3397855"/>
            <a:ext cx="5197541" cy="5108037"/>
            <a:chOff x="0" y="0"/>
            <a:chExt cx="1538825" cy="151232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38825" cy="1512326"/>
            </a:xfrm>
            <a:custGeom>
              <a:avLst/>
              <a:gdLst/>
              <a:ahLst/>
              <a:cxnLst/>
              <a:rect r="r" b="b" t="t" l="l"/>
              <a:pathLst>
                <a:path h="1512326" w="1538825">
                  <a:moveTo>
                    <a:pt x="148954" y="0"/>
                  </a:moveTo>
                  <a:lnTo>
                    <a:pt x="1389871" y="0"/>
                  </a:lnTo>
                  <a:cubicBezTo>
                    <a:pt x="1429376" y="0"/>
                    <a:pt x="1467263" y="15693"/>
                    <a:pt x="1495197" y="43627"/>
                  </a:cubicBezTo>
                  <a:cubicBezTo>
                    <a:pt x="1523131" y="71562"/>
                    <a:pt x="1538825" y="109449"/>
                    <a:pt x="1538825" y="148954"/>
                  </a:cubicBezTo>
                  <a:lnTo>
                    <a:pt x="1538825" y="1363372"/>
                  </a:lnTo>
                  <a:cubicBezTo>
                    <a:pt x="1538825" y="1402877"/>
                    <a:pt x="1523131" y="1440764"/>
                    <a:pt x="1495197" y="1468698"/>
                  </a:cubicBezTo>
                  <a:cubicBezTo>
                    <a:pt x="1467263" y="1496632"/>
                    <a:pt x="1429376" y="1512326"/>
                    <a:pt x="1389871" y="1512326"/>
                  </a:cubicBezTo>
                  <a:lnTo>
                    <a:pt x="148954" y="1512326"/>
                  </a:lnTo>
                  <a:cubicBezTo>
                    <a:pt x="109449" y="1512326"/>
                    <a:pt x="71562" y="1496632"/>
                    <a:pt x="43627" y="1468698"/>
                  </a:cubicBezTo>
                  <a:cubicBezTo>
                    <a:pt x="15693" y="1440764"/>
                    <a:pt x="0" y="1402877"/>
                    <a:pt x="0" y="1363372"/>
                  </a:cubicBezTo>
                  <a:lnTo>
                    <a:pt x="0" y="148954"/>
                  </a:lnTo>
                  <a:cubicBezTo>
                    <a:pt x="0" y="109449"/>
                    <a:pt x="15693" y="71562"/>
                    <a:pt x="43627" y="43627"/>
                  </a:cubicBezTo>
                  <a:cubicBezTo>
                    <a:pt x="71562" y="15693"/>
                    <a:pt x="109449" y="0"/>
                    <a:pt x="148954" y="0"/>
                  </a:cubicBezTo>
                  <a:close/>
                </a:path>
              </a:pathLst>
            </a:custGeom>
            <a:solidFill>
              <a:srgbClr val="718BAB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1538825" cy="1579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59"/>
                </a:lnSpc>
              </a:pPr>
              <a:r>
                <a:rPr lang="en-US" sz="2899" b="true">
                  <a:solidFill>
                    <a:srgbClr val="FFFFFF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Neural Network Integration</a:t>
              </a:r>
            </a:p>
            <a:p>
              <a:pPr algn="ctr">
                <a:lnSpc>
                  <a:spcPts val="3639"/>
                </a:lnSpc>
              </a:pPr>
            </a:p>
            <a:p>
              <a:pPr algn="ctr">
                <a:lnSpc>
                  <a:spcPts val="3639"/>
                </a:lnSpc>
              </a:pPr>
              <a:r>
                <a:rPr lang="en-US" sz="2599">
                  <a:solidFill>
                    <a:srgbClr val="FFFFFF"/>
                  </a:solidFill>
                  <a:latin typeface="Helios"/>
                  <a:ea typeface="Helios"/>
                  <a:cs typeface="Helios"/>
                  <a:sym typeface="Helios"/>
                </a:rPr>
                <a:t>A feedforward neural network is integrated with A* search to:</a:t>
              </a:r>
            </a:p>
            <a:p>
              <a:pPr algn="ctr">
                <a:lnSpc>
                  <a:spcPts val="3639"/>
                </a:lnSpc>
              </a:pPr>
            </a:p>
            <a:p>
              <a:pPr algn="l" marL="561339" indent="-280669" lvl="1">
                <a:lnSpc>
                  <a:spcPts val="3639"/>
                </a:lnSpc>
                <a:buFont typeface="Arial"/>
                <a:buChar char="•"/>
              </a:pPr>
              <a:r>
                <a:rPr lang="en-US" sz="2599">
                  <a:solidFill>
                    <a:srgbClr val="FFFFFF"/>
                  </a:solidFill>
                  <a:latin typeface="Helios"/>
                  <a:ea typeface="Helios"/>
                  <a:cs typeface="Helios"/>
                  <a:sym typeface="Helios"/>
                </a:rPr>
                <a:t>Learn grid features</a:t>
              </a:r>
            </a:p>
            <a:p>
              <a:pPr algn="l" marL="561339" indent="-280669" lvl="1">
                <a:lnSpc>
                  <a:spcPts val="3639"/>
                </a:lnSpc>
                <a:buFont typeface="Arial"/>
                <a:buChar char="•"/>
              </a:pPr>
              <a:r>
                <a:rPr lang="en-US" sz="2599">
                  <a:solidFill>
                    <a:srgbClr val="FFFFFF"/>
                  </a:solidFill>
                  <a:latin typeface="Helios"/>
                  <a:ea typeface="Helios"/>
                  <a:cs typeface="Helios"/>
                  <a:sym typeface="Helios"/>
                </a:rPr>
                <a:t>Predict walkable regions</a:t>
              </a:r>
            </a:p>
            <a:p>
              <a:pPr algn="l" marL="561339" indent="-280669" lvl="1">
                <a:lnSpc>
                  <a:spcPts val="3639"/>
                </a:lnSpc>
                <a:buFont typeface="Arial"/>
                <a:buChar char="•"/>
              </a:pPr>
              <a:r>
                <a:rPr lang="en-US" sz="2599">
                  <a:solidFill>
                    <a:srgbClr val="FFFFFF"/>
                  </a:solidFill>
                  <a:latin typeface="Helios"/>
                  <a:ea typeface="Helios"/>
                  <a:cs typeface="Helios"/>
                  <a:sym typeface="Helios"/>
                </a:rPr>
                <a:t>Assist navigation planning</a:t>
              </a:r>
            </a:p>
            <a:p>
              <a:pPr algn="ctr">
                <a:lnSpc>
                  <a:spcPts val="363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801895" y="3397855"/>
            <a:ext cx="5197541" cy="5108037"/>
            <a:chOff x="0" y="0"/>
            <a:chExt cx="1538825" cy="151232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38825" cy="1512326"/>
            </a:xfrm>
            <a:custGeom>
              <a:avLst/>
              <a:gdLst/>
              <a:ahLst/>
              <a:cxnLst/>
              <a:rect r="r" b="b" t="t" l="l"/>
              <a:pathLst>
                <a:path h="1512326" w="1538825">
                  <a:moveTo>
                    <a:pt x="148954" y="0"/>
                  </a:moveTo>
                  <a:lnTo>
                    <a:pt x="1389871" y="0"/>
                  </a:lnTo>
                  <a:cubicBezTo>
                    <a:pt x="1429376" y="0"/>
                    <a:pt x="1467263" y="15693"/>
                    <a:pt x="1495197" y="43627"/>
                  </a:cubicBezTo>
                  <a:cubicBezTo>
                    <a:pt x="1523131" y="71562"/>
                    <a:pt x="1538825" y="109449"/>
                    <a:pt x="1538825" y="148954"/>
                  </a:cubicBezTo>
                  <a:lnTo>
                    <a:pt x="1538825" y="1363372"/>
                  </a:lnTo>
                  <a:cubicBezTo>
                    <a:pt x="1538825" y="1402877"/>
                    <a:pt x="1523131" y="1440764"/>
                    <a:pt x="1495197" y="1468698"/>
                  </a:cubicBezTo>
                  <a:cubicBezTo>
                    <a:pt x="1467263" y="1496632"/>
                    <a:pt x="1429376" y="1512326"/>
                    <a:pt x="1389871" y="1512326"/>
                  </a:cubicBezTo>
                  <a:lnTo>
                    <a:pt x="148954" y="1512326"/>
                  </a:lnTo>
                  <a:cubicBezTo>
                    <a:pt x="109449" y="1512326"/>
                    <a:pt x="71562" y="1496632"/>
                    <a:pt x="43627" y="1468698"/>
                  </a:cubicBezTo>
                  <a:cubicBezTo>
                    <a:pt x="15693" y="1440764"/>
                    <a:pt x="0" y="1402877"/>
                    <a:pt x="0" y="1363372"/>
                  </a:cubicBezTo>
                  <a:lnTo>
                    <a:pt x="0" y="148954"/>
                  </a:lnTo>
                  <a:cubicBezTo>
                    <a:pt x="0" y="109449"/>
                    <a:pt x="15693" y="71562"/>
                    <a:pt x="43627" y="43627"/>
                  </a:cubicBezTo>
                  <a:cubicBezTo>
                    <a:pt x="71562" y="15693"/>
                    <a:pt x="109449" y="0"/>
                    <a:pt x="148954" y="0"/>
                  </a:cubicBezTo>
                  <a:close/>
                </a:path>
              </a:pathLst>
            </a:custGeom>
            <a:solidFill>
              <a:srgbClr val="718BAB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1538825" cy="1579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</a:pPr>
              <a:r>
                <a:rPr lang="en-US" sz="2999" b="true">
                  <a:solidFill>
                    <a:srgbClr val="FFFFFF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Dashboard Features</a:t>
              </a:r>
            </a:p>
            <a:p>
              <a:pPr algn="l">
                <a:lnSpc>
                  <a:spcPts val="3639"/>
                </a:lnSpc>
              </a:pPr>
            </a:p>
            <a:p>
              <a:pPr algn="l" marL="561339" indent="-280669" lvl="1">
                <a:lnSpc>
                  <a:spcPts val="3639"/>
                </a:lnSpc>
                <a:buFont typeface="Arial"/>
                <a:buChar char="•"/>
              </a:pPr>
              <a:r>
                <a:rPr lang="en-US" sz="2599">
                  <a:solidFill>
                    <a:srgbClr val="FFFFFF"/>
                  </a:solidFill>
                  <a:latin typeface="Helios"/>
                  <a:ea typeface="Helios"/>
                  <a:cs typeface="Helios"/>
                  <a:sym typeface="Helios"/>
                </a:rPr>
                <a:t>Grid visualization</a:t>
              </a:r>
            </a:p>
            <a:p>
              <a:pPr algn="l" marL="561339" indent="-280669" lvl="1">
                <a:lnSpc>
                  <a:spcPts val="3639"/>
                </a:lnSpc>
                <a:buFont typeface="Arial"/>
                <a:buChar char="•"/>
              </a:pPr>
              <a:r>
                <a:rPr lang="en-US" sz="2599">
                  <a:solidFill>
                    <a:srgbClr val="FFFFFF"/>
                  </a:solidFill>
                  <a:latin typeface="Helios"/>
                  <a:ea typeface="Helios"/>
                  <a:cs typeface="Helios"/>
                  <a:sym typeface="Helios"/>
                </a:rPr>
                <a:t>Algorithm comparison</a:t>
              </a:r>
            </a:p>
            <a:p>
              <a:pPr algn="l" marL="561339" indent="-280669" lvl="1">
                <a:lnSpc>
                  <a:spcPts val="3639"/>
                </a:lnSpc>
                <a:buFont typeface="Arial"/>
                <a:buChar char="•"/>
              </a:pPr>
              <a:r>
                <a:rPr lang="en-US" sz="2599">
                  <a:solidFill>
                    <a:srgbClr val="FFFFFF"/>
                  </a:solidFill>
                  <a:latin typeface="Helios"/>
                  <a:ea typeface="Helios"/>
                  <a:cs typeface="Helios"/>
                  <a:sym typeface="Helios"/>
                </a:rPr>
                <a:t>RL heatmaps</a:t>
              </a:r>
            </a:p>
            <a:p>
              <a:pPr algn="l" marL="561339" indent="-280669" lvl="1">
                <a:lnSpc>
                  <a:spcPts val="3639"/>
                </a:lnSpc>
                <a:buFont typeface="Arial"/>
                <a:buChar char="•"/>
              </a:pPr>
              <a:r>
                <a:rPr lang="en-US" sz="2599">
                  <a:solidFill>
                    <a:srgbClr val="FFFFFF"/>
                  </a:solidFill>
                  <a:latin typeface="Helios"/>
                  <a:ea typeface="Helios"/>
                  <a:cs typeface="Helios"/>
                  <a:sym typeface="Helios"/>
                </a:rPr>
                <a:t>Training curves</a:t>
              </a:r>
            </a:p>
            <a:p>
              <a:pPr algn="l" marL="561339" indent="-280669" lvl="1">
                <a:lnSpc>
                  <a:spcPts val="3639"/>
                </a:lnSpc>
                <a:buFont typeface="Arial"/>
                <a:buChar char="•"/>
              </a:pPr>
              <a:r>
                <a:rPr lang="en-US" sz="2599">
                  <a:solidFill>
                    <a:srgbClr val="FFFFFF"/>
                  </a:solidFill>
                  <a:latin typeface="Helios"/>
                  <a:ea typeface="Helios"/>
                  <a:cs typeface="Helios"/>
                  <a:sym typeface="Helios"/>
                </a:rPr>
                <a:t>Performance tables</a:t>
              </a:r>
            </a:p>
            <a:p>
              <a:pPr algn="l" marL="561339" indent="-280669" lvl="1">
                <a:lnSpc>
                  <a:spcPts val="3639"/>
                </a:lnSpc>
                <a:buFont typeface="Arial"/>
                <a:buChar char="•"/>
              </a:pPr>
              <a:r>
                <a:rPr lang="en-US" sz="2599">
                  <a:solidFill>
                    <a:srgbClr val="FFFFFF"/>
                  </a:solidFill>
                  <a:latin typeface="Helios"/>
                  <a:ea typeface="Helios"/>
                  <a:cs typeface="Helios"/>
                  <a:sym typeface="Helios"/>
                </a:rPr>
                <a:t>Best path visualization</a:t>
              </a:r>
            </a:p>
            <a:p>
              <a:pPr algn="l">
                <a:lnSpc>
                  <a:spcPts val="363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570935" y="3397855"/>
            <a:ext cx="5197541" cy="5108037"/>
            <a:chOff x="0" y="0"/>
            <a:chExt cx="1538825" cy="151232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38825" cy="1512326"/>
            </a:xfrm>
            <a:custGeom>
              <a:avLst/>
              <a:gdLst/>
              <a:ahLst/>
              <a:cxnLst/>
              <a:rect r="r" b="b" t="t" l="l"/>
              <a:pathLst>
                <a:path h="1512326" w="1538825">
                  <a:moveTo>
                    <a:pt x="148954" y="0"/>
                  </a:moveTo>
                  <a:lnTo>
                    <a:pt x="1389871" y="0"/>
                  </a:lnTo>
                  <a:cubicBezTo>
                    <a:pt x="1429376" y="0"/>
                    <a:pt x="1467263" y="15693"/>
                    <a:pt x="1495197" y="43627"/>
                  </a:cubicBezTo>
                  <a:cubicBezTo>
                    <a:pt x="1523131" y="71562"/>
                    <a:pt x="1538825" y="109449"/>
                    <a:pt x="1538825" y="148954"/>
                  </a:cubicBezTo>
                  <a:lnTo>
                    <a:pt x="1538825" y="1363372"/>
                  </a:lnTo>
                  <a:cubicBezTo>
                    <a:pt x="1538825" y="1402877"/>
                    <a:pt x="1523131" y="1440764"/>
                    <a:pt x="1495197" y="1468698"/>
                  </a:cubicBezTo>
                  <a:cubicBezTo>
                    <a:pt x="1467263" y="1496632"/>
                    <a:pt x="1429376" y="1512326"/>
                    <a:pt x="1389871" y="1512326"/>
                  </a:cubicBezTo>
                  <a:lnTo>
                    <a:pt x="148954" y="1512326"/>
                  </a:lnTo>
                  <a:cubicBezTo>
                    <a:pt x="109449" y="1512326"/>
                    <a:pt x="71562" y="1496632"/>
                    <a:pt x="43627" y="1468698"/>
                  </a:cubicBezTo>
                  <a:cubicBezTo>
                    <a:pt x="15693" y="1440764"/>
                    <a:pt x="0" y="1402877"/>
                    <a:pt x="0" y="1363372"/>
                  </a:cubicBezTo>
                  <a:lnTo>
                    <a:pt x="0" y="148954"/>
                  </a:lnTo>
                  <a:cubicBezTo>
                    <a:pt x="0" y="109449"/>
                    <a:pt x="15693" y="71562"/>
                    <a:pt x="43627" y="43627"/>
                  </a:cubicBezTo>
                  <a:cubicBezTo>
                    <a:pt x="71562" y="15693"/>
                    <a:pt x="109449" y="0"/>
                    <a:pt x="148954" y="0"/>
                  </a:cubicBezTo>
                  <a:close/>
                </a:path>
              </a:pathLst>
            </a:custGeom>
            <a:solidFill>
              <a:srgbClr val="718BAB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66675"/>
              <a:ext cx="1538825" cy="1579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</a:pPr>
              <a:r>
                <a:rPr lang="en-US" sz="2999" b="true">
                  <a:solidFill>
                    <a:srgbClr val="FFFFFF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Technologies Used</a:t>
              </a:r>
            </a:p>
            <a:p>
              <a:pPr algn="ctr">
                <a:lnSpc>
                  <a:spcPts val="3639"/>
                </a:lnSpc>
              </a:pPr>
            </a:p>
            <a:p>
              <a:pPr algn="l" marL="561339" indent="-280669" lvl="1">
                <a:lnSpc>
                  <a:spcPts val="3639"/>
                </a:lnSpc>
                <a:buFont typeface="Arial"/>
                <a:buChar char="•"/>
              </a:pPr>
              <a:r>
                <a:rPr lang="en-US" sz="2599">
                  <a:solidFill>
                    <a:srgbClr val="FFFFFF"/>
                  </a:solidFill>
                  <a:latin typeface="Helios"/>
                  <a:ea typeface="Helios"/>
                  <a:cs typeface="Helios"/>
                  <a:sym typeface="Helios"/>
                </a:rPr>
                <a:t>Python</a:t>
              </a:r>
            </a:p>
            <a:p>
              <a:pPr algn="l" marL="561339" indent="-280669" lvl="1">
                <a:lnSpc>
                  <a:spcPts val="3639"/>
                </a:lnSpc>
                <a:buFont typeface="Arial"/>
                <a:buChar char="•"/>
              </a:pPr>
              <a:r>
                <a:rPr lang="en-US" sz="2599">
                  <a:solidFill>
                    <a:srgbClr val="FFFFFF"/>
                  </a:solidFill>
                  <a:latin typeface="Helios"/>
                  <a:ea typeface="Helios"/>
                  <a:cs typeface="Helios"/>
                  <a:sym typeface="Helios"/>
                </a:rPr>
                <a:t>OpenCV</a:t>
              </a:r>
            </a:p>
            <a:p>
              <a:pPr algn="l" marL="561339" indent="-280669" lvl="1">
                <a:lnSpc>
                  <a:spcPts val="3639"/>
                </a:lnSpc>
                <a:buFont typeface="Arial"/>
                <a:buChar char="•"/>
              </a:pPr>
              <a:r>
                <a:rPr lang="en-US" sz="2599">
                  <a:solidFill>
                    <a:srgbClr val="FFFFFF"/>
                  </a:solidFill>
                  <a:latin typeface="Helios"/>
                  <a:ea typeface="Helios"/>
                  <a:cs typeface="Helios"/>
                  <a:sym typeface="Helios"/>
                </a:rPr>
                <a:t>PyQt5</a:t>
              </a:r>
            </a:p>
            <a:p>
              <a:pPr algn="l" marL="561339" indent="-280669" lvl="1">
                <a:lnSpc>
                  <a:spcPts val="3639"/>
                </a:lnSpc>
                <a:buFont typeface="Arial"/>
                <a:buChar char="•"/>
              </a:pPr>
              <a:r>
                <a:rPr lang="en-US" sz="2599">
                  <a:solidFill>
                    <a:srgbClr val="FFFFFF"/>
                  </a:solidFill>
                  <a:latin typeface="Helios"/>
                  <a:ea typeface="Helios"/>
                  <a:cs typeface="Helios"/>
                  <a:sym typeface="Helios"/>
                </a:rPr>
                <a:t>NumPy</a:t>
              </a:r>
            </a:p>
            <a:p>
              <a:pPr algn="l" marL="561339" indent="-280669" lvl="1">
                <a:lnSpc>
                  <a:spcPts val="3639"/>
                </a:lnSpc>
                <a:buFont typeface="Arial"/>
                <a:buChar char="•"/>
              </a:pPr>
              <a:r>
                <a:rPr lang="en-US" sz="2599">
                  <a:solidFill>
                    <a:srgbClr val="FFFFFF"/>
                  </a:solidFill>
                  <a:latin typeface="Helios"/>
                  <a:ea typeface="Helios"/>
                  <a:cs typeface="Helios"/>
                  <a:sym typeface="Helios"/>
                </a:rPr>
                <a:t>Matplotlib</a:t>
              </a:r>
            </a:p>
            <a:p>
              <a:pPr algn="l">
                <a:lnSpc>
                  <a:spcPts val="3639"/>
                </a:lnSpc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831673" y="-2194867"/>
            <a:ext cx="9116754" cy="9116754"/>
          </a:xfrm>
          <a:custGeom>
            <a:avLst/>
            <a:gdLst/>
            <a:ahLst/>
            <a:cxnLst/>
            <a:rect r="r" b="b" t="t" l="l"/>
            <a:pathLst>
              <a:path h="9116754" w="9116754">
                <a:moveTo>
                  <a:pt x="0" y="0"/>
                </a:moveTo>
                <a:lnTo>
                  <a:pt x="9116754" y="0"/>
                </a:lnTo>
                <a:lnTo>
                  <a:pt x="9116754" y="9116754"/>
                </a:lnTo>
                <a:lnTo>
                  <a:pt x="0" y="91167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831673" y="551250"/>
            <a:ext cx="9116754" cy="9116754"/>
          </a:xfrm>
          <a:custGeom>
            <a:avLst/>
            <a:gdLst/>
            <a:ahLst/>
            <a:cxnLst/>
            <a:rect r="r" b="b" t="t" l="l"/>
            <a:pathLst>
              <a:path h="9116754" w="9116754">
                <a:moveTo>
                  <a:pt x="0" y="0"/>
                </a:moveTo>
                <a:lnTo>
                  <a:pt x="9116754" y="0"/>
                </a:lnTo>
                <a:lnTo>
                  <a:pt x="9116754" y="9116755"/>
                </a:lnTo>
                <a:lnTo>
                  <a:pt x="0" y="91167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831673" y="2916829"/>
            <a:ext cx="9116754" cy="9116754"/>
          </a:xfrm>
          <a:custGeom>
            <a:avLst/>
            <a:gdLst/>
            <a:ahLst/>
            <a:cxnLst/>
            <a:rect r="r" b="b" t="t" l="l"/>
            <a:pathLst>
              <a:path h="9116754" w="9116754">
                <a:moveTo>
                  <a:pt x="0" y="0"/>
                </a:moveTo>
                <a:lnTo>
                  <a:pt x="9116754" y="0"/>
                </a:lnTo>
                <a:lnTo>
                  <a:pt x="9116754" y="9116755"/>
                </a:lnTo>
                <a:lnTo>
                  <a:pt x="0" y="91167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0" y="0"/>
            <a:ext cx="18288000" cy="2340491"/>
            <a:chOff x="0" y="0"/>
            <a:chExt cx="4816593" cy="61642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616426"/>
            </a:xfrm>
            <a:custGeom>
              <a:avLst/>
              <a:gdLst/>
              <a:ahLst/>
              <a:cxnLst/>
              <a:rect r="r" b="b" t="t" l="l"/>
              <a:pathLst>
                <a:path h="616426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16426"/>
                  </a:lnTo>
                  <a:lnTo>
                    <a:pt x="0" y="616426"/>
                  </a:lnTo>
                  <a:close/>
                </a:path>
              </a:pathLst>
            </a:custGeom>
            <a:solidFill>
              <a:srgbClr val="15396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4816593" cy="6831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9596" y="4077752"/>
            <a:ext cx="6044810" cy="3437627"/>
            <a:chOff x="0" y="0"/>
            <a:chExt cx="8059746" cy="4583502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76200"/>
              <a:ext cx="8059746" cy="3937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800"/>
                </a:lnSpc>
              </a:pPr>
              <a:r>
                <a:rPr lang="en-US" sz="6000" b="true">
                  <a:solidFill>
                    <a:srgbClr val="2A2E3A"/>
                  </a:solidFill>
                  <a:latin typeface="Klein Bold"/>
                  <a:ea typeface="Klein Bold"/>
                  <a:cs typeface="Klein Bold"/>
                  <a:sym typeface="Klein Bold"/>
                </a:rPr>
                <a:t>Result </a:t>
              </a:r>
            </a:p>
            <a:p>
              <a:pPr algn="l">
                <a:lnSpc>
                  <a:spcPts val="7800"/>
                </a:lnSpc>
              </a:pPr>
              <a:r>
                <a:rPr lang="en-US" sz="6000" b="true">
                  <a:solidFill>
                    <a:srgbClr val="718BAB"/>
                  </a:solidFill>
                  <a:latin typeface="Klein Bold"/>
                  <a:ea typeface="Klein Bold"/>
                  <a:cs typeface="Klein Bold"/>
                  <a:sym typeface="Klein Bold"/>
                </a:rPr>
                <a:t>&amp; Performance Analysis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4133712"/>
              <a:ext cx="7143583" cy="4497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80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0" y="0"/>
            <a:ext cx="18288000" cy="2340491"/>
            <a:chOff x="0" y="0"/>
            <a:chExt cx="24384000" cy="3120655"/>
          </a:xfrm>
        </p:grpSpPr>
        <p:pic>
          <p:nvPicPr>
            <p:cNvPr name="Picture 12" id="12"/>
            <p:cNvPicPr>
              <a:picLocks noChangeAspect="true"/>
            </p:cNvPicPr>
            <p:nvPr/>
          </p:nvPicPr>
          <p:blipFill>
            <a:blip r:embed="rId4">
              <a:alphaModFix amt="14000"/>
            </a:blip>
            <a:srcRect l="0" t="45734" r="0" b="45734"/>
            <a:stretch>
              <a:fillRect/>
            </a:stretch>
          </p:blipFill>
          <p:spPr>
            <a:xfrm flipH="false" flipV="false">
              <a:off x="0" y="0"/>
              <a:ext cx="24384000" cy="3120655"/>
            </a:xfrm>
            <a:prstGeom prst="rect">
              <a:avLst/>
            </a:prstGeom>
          </p:spPr>
        </p:pic>
      </p:grpSp>
      <p:grpSp>
        <p:nvGrpSpPr>
          <p:cNvPr name="Group 13" id="13"/>
          <p:cNvGrpSpPr/>
          <p:nvPr/>
        </p:nvGrpSpPr>
        <p:grpSpPr>
          <a:xfrm rot="0">
            <a:off x="8679273" y="2865855"/>
            <a:ext cx="9203204" cy="2423795"/>
            <a:chOff x="0" y="0"/>
            <a:chExt cx="12270939" cy="323172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240030"/>
              <a:ext cx="553213" cy="553213"/>
            </a:xfrm>
            <a:custGeom>
              <a:avLst/>
              <a:gdLst/>
              <a:ahLst/>
              <a:cxnLst/>
              <a:rect r="r" b="b" t="t" l="l"/>
              <a:pathLst>
                <a:path h="553213" w="553213">
                  <a:moveTo>
                    <a:pt x="0" y="0"/>
                  </a:moveTo>
                  <a:lnTo>
                    <a:pt x="553213" y="0"/>
                  </a:lnTo>
                  <a:lnTo>
                    <a:pt x="553213" y="553213"/>
                  </a:lnTo>
                  <a:lnTo>
                    <a:pt x="0" y="5532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 rot="0">
              <a:off x="1109899" y="-47625"/>
              <a:ext cx="11161040" cy="32793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 b="true">
                  <a:solidFill>
                    <a:srgbClr val="2A2E3A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Results Achieved</a:t>
              </a:r>
            </a:p>
            <a:p>
              <a:pPr algn="l" marL="431802" indent="-215901" lvl="1">
                <a:lnSpc>
                  <a:spcPts val="2800"/>
                </a:lnSpc>
                <a:buFont typeface="Arial"/>
                <a:buChar char="•"/>
              </a:pPr>
              <a:r>
                <a:rPr lang="en-US" sz="2000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 </a:t>
              </a:r>
              <a:r>
                <a:rPr lang="en-US" sz="2000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Successful</a:t>
              </a:r>
              <a:r>
                <a:rPr lang="en-US" sz="2000" u="none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 occupancy grid generation</a:t>
              </a:r>
            </a:p>
            <a:p>
              <a:pPr algn="l" marL="431802" indent="-215901" lvl="1">
                <a:lnSpc>
                  <a:spcPts val="2800"/>
                </a:lnSpc>
                <a:buFont typeface="Arial"/>
                <a:buChar char="•"/>
              </a:pPr>
              <a:r>
                <a:rPr lang="en-US" sz="2000" u="none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 Path generation using BFS, DFS, and A*</a:t>
              </a:r>
            </a:p>
            <a:p>
              <a:pPr algn="l" marL="431802" indent="-215901" lvl="1">
                <a:lnSpc>
                  <a:spcPts val="2800"/>
                </a:lnSpc>
                <a:buFont typeface="Arial"/>
                <a:buChar char="•"/>
              </a:pPr>
              <a:r>
                <a:rPr lang="en-US" sz="2000" u="none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 Reinforcement learning-based navigation</a:t>
              </a:r>
            </a:p>
            <a:p>
              <a:pPr algn="l" marL="431802" indent="-215901" lvl="1">
                <a:lnSpc>
                  <a:spcPts val="2800"/>
                </a:lnSpc>
                <a:buFont typeface="Arial"/>
                <a:buChar char="•"/>
              </a:pPr>
              <a:r>
                <a:rPr lang="en-US" sz="2000" u="none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 Heuristic comparison visualization</a:t>
              </a:r>
            </a:p>
            <a:p>
              <a:pPr algn="l" marL="431802" indent="-215901" lvl="1">
                <a:lnSpc>
                  <a:spcPts val="2800"/>
                </a:lnSpc>
                <a:buFont typeface="Arial"/>
                <a:buChar char="•"/>
              </a:pPr>
              <a:r>
                <a:rPr lang="en-US" sz="2000" u="none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 Interactive dashboard output</a:t>
              </a:r>
            </a:p>
            <a:p>
              <a:pPr algn="l" marL="431802" indent="-215901" lvl="1">
                <a:lnSpc>
                  <a:spcPts val="2800"/>
                </a:lnSpc>
                <a:buFont typeface="Arial"/>
                <a:buChar char="•"/>
              </a:pPr>
              <a:r>
                <a:rPr lang="en-US" sz="2000" u="none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 Multi-algorithm comparison on the same environment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679273" y="5598278"/>
            <a:ext cx="8521495" cy="1718945"/>
            <a:chOff x="0" y="0"/>
            <a:chExt cx="11361993" cy="229192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5080"/>
              <a:ext cx="553213" cy="553213"/>
            </a:xfrm>
            <a:custGeom>
              <a:avLst/>
              <a:gdLst/>
              <a:ahLst/>
              <a:cxnLst/>
              <a:rect r="r" b="b" t="t" l="l"/>
              <a:pathLst>
                <a:path h="553213" w="553213">
                  <a:moveTo>
                    <a:pt x="0" y="0"/>
                  </a:moveTo>
                  <a:lnTo>
                    <a:pt x="553213" y="0"/>
                  </a:lnTo>
                  <a:lnTo>
                    <a:pt x="553213" y="553213"/>
                  </a:lnTo>
                  <a:lnTo>
                    <a:pt x="0" y="5532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 rot="0">
              <a:off x="1177832" y="-47625"/>
              <a:ext cx="10184161" cy="23395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  <a:spcBef>
                  <a:spcPct val="0"/>
                </a:spcBef>
              </a:pPr>
              <a:r>
                <a:rPr lang="en-US" b="true" sz="2000">
                  <a:solidFill>
                    <a:srgbClr val="2A2E3A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Perf</a:t>
              </a:r>
              <a:r>
                <a:rPr lang="en-US" b="true" sz="2000" u="none">
                  <a:solidFill>
                    <a:srgbClr val="2A2E3A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ormance Metrics</a:t>
              </a:r>
            </a:p>
            <a:p>
              <a:pPr algn="l" marL="0" indent="0" lvl="0">
                <a:lnSpc>
                  <a:spcPts val="2800"/>
                </a:lnSpc>
                <a:spcBef>
                  <a:spcPct val="0"/>
                </a:spcBef>
              </a:pPr>
              <a:r>
                <a:rPr lang="en-US" sz="2000" u="none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Algorithms are compared using:</a:t>
              </a:r>
            </a:p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 u="none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 Path length</a:t>
              </a:r>
            </a:p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 u="none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 Nodes explored</a:t>
              </a:r>
            </a:p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 u="none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 Execution time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655115" y="7618213"/>
            <a:ext cx="9227363" cy="2423795"/>
            <a:chOff x="0" y="0"/>
            <a:chExt cx="12303150" cy="323172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474980"/>
              <a:ext cx="553213" cy="553213"/>
            </a:xfrm>
            <a:custGeom>
              <a:avLst/>
              <a:gdLst/>
              <a:ahLst/>
              <a:cxnLst/>
              <a:rect r="r" b="b" t="t" l="l"/>
              <a:pathLst>
                <a:path h="553213" w="553213">
                  <a:moveTo>
                    <a:pt x="0" y="0"/>
                  </a:moveTo>
                  <a:lnTo>
                    <a:pt x="553213" y="0"/>
                  </a:lnTo>
                  <a:lnTo>
                    <a:pt x="553213" y="553213"/>
                  </a:lnTo>
                  <a:lnTo>
                    <a:pt x="0" y="5532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 rot="0">
              <a:off x="1232367" y="-47625"/>
              <a:ext cx="11070783" cy="32793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 b="true">
                  <a:solidFill>
                    <a:srgbClr val="2A2E3A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Observations</a:t>
              </a:r>
            </a:p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 BFS prov</a:t>
              </a:r>
              <a:r>
                <a:rPr lang="en-US" sz="2000" u="none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ides shortest path in uniform grids.</a:t>
              </a:r>
            </a:p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 u="none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 DFS explores deeper paths quickly but is not always optimal.</a:t>
              </a:r>
            </a:p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 u="none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 A* improves efficiency using heuristics.</a:t>
              </a:r>
            </a:p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 u="none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 Q-Learning demonstrates learned navigation behavior.</a:t>
              </a:r>
            </a:p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 u="none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 The dashboard allows users to run and compare different algorithms interactively.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051389" cy="10295868"/>
            <a:chOff x="0" y="0"/>
            <a:chExt cx="1857156" cy="271166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57156" cy="2711669"/>
            </a:xfrm>
            <a:custGeom>
              <a:avLst/>
              <a:gdLst/>
              <a:ahLst/>
              <a:cxnLst/>
              <a:rect r="r" b="b" t="t" l="l"/>
              <a:pathLst>
                <a:path h="2711669" w="1857156">
                  <a:moveTo>
                    <a:pt x="0" y="0"/>
                  </a:moveTo>
                  <a:lnTo>
                    <a:pt x="1857156" y="0"/>
                  </a:lnTo>
                  <a:lnTo>
                    <a:pt x="1857156" y="2711669"/>
                  </a:lnTo>
                  <a:lnTo>
                    <a:pt x="0" y="2711669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57156" cy="27497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71985" y="1443302"/>
            <a:ext cx="5307419" cy="4098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00"/>
              </a:lnSpc>
            </a:pPr>
            <a:r>
              <a:rPr lang="en-US" b="true" sz="5000">
                <a:solidFill>
                  <a:srgbClr val="2A2E3A"/>
                </a:solidFill>
                <a:latin typeface="Klein Bold"/>
                <a:ea typeface="Klein Bold"/>
                <a:cs typeface="Klein Bold"/>
                <a:sym typeface="Klein Bold"/>
              </a:rPr>
              <a:t>Current Progress, Future Scope </a:t>
            </a:r>
          </a:p>
          <a:p>
            <a:pPr algn="l">
              <a:lnSpc>
                <a:spcPts val="6500"/>
              </a:lnSpc>
            </a:pPr>
            <a:r>
              <a:rPr lang="en-US" b="true" sz="5000">
                <a:solidFill>
                  <a:srgbClr val="C0CFE1"/>
                </a:solidFill>
                <a:latin typeface="Klein Bold"/>
                <a:ea typeface="Klein Bold"/>
                <a:cs typeface="Klein Bold"/>
                <a:sym typeface="Klein Bold"/>
              </a:rPr>
              <a:t>&amp; Contributions</a:t>
            </a:r>
          </a:p>
          <a:p>
            <a:pPr algn="l">
              <a:lnSpc>
                <a:spcPts val="6500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2700000">
            <a:off x="12048504" y="2111043"/>
            <a:ext cx="2762064" cy="1441295"/>
          </a:xfrm>
          <a:custGeom>
            <a:avLst/>
            <a:gdLst/>
            <a:ahLst/>
            <a:cxnLst/>
            <a:rect r="r" b="b" t="t" l="l"/>
            <a:pathLst>
              <a:path h="1441295" w="2762064">
                <a:moveTo>
                  <a:pt x="0" y="0"/>
                </a:moveTo>
                <a:lnTo>
                  <a:pt x="2762064" y="0"/>
                </a:lnTo>
                <a:lnTo>
                  <a:pt x="2762064" y="1441295"/>
                </a:lnTo>
                <a:lnTo>
                  <a:pt x="0" y="14412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7491538" y="604524"/>
            <a:ext cx="5227455" cy="3218702"/>
            <a:chOff x="0" y="0"/>
            <a:chExt cx="1376778" cy="84772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76778" cy="847724"/>
            </a:xfrm>
            <a:custGeom>
              <a:avLst/>
              <a:gdLst/>
              <a:ahLst/>
              <a:cxnLst/>
              <a:rect r="r" b="b" t="t" l="l"/>
              <a:pathLst>
                <a:path h="847724" w="1376778">
                  <a:moveTo>
                    <a:pt x="94785" y="0"/>
                  </a:moveTo>
                  <a:lnTo>
                    <a:pt x="1281994" y="0"/>
                  </a:lnTo>
                  <a:cubicBezTo>
                    <a:pt x="1307132" y="0"/>
                    <a:pt x="1331241" y="9986"/>
                    <a:pt x="1349016" y="27762"/>
                  </a:cubicBezTo>
                  <a:cubicBezTo>
                    <a:pt x="1366792" y="45537"/>
                    <a:pt x="1376778" y="69646"/>
                    <a:pt x="1376778" y="94785"/>
                  </a:cubicBezTo>
                  <a:lnTo>
                    <a:pt x="1376778" y="752939"/>
                  </a:lnTo>
                  <a:cubicBezTo>
                    <a:pt x="1376778" y="778078"/>
                    <a:pt x="1366792" y="802187"/>
                    <a:pt x="1349016" y="819962"/>
                  </a:cubicBezTo>
                  <a:cubicBezTo>
                    <a:pt x="1331241" y="837738"/>
                    <a:pt x="1307132" y="847724"/>
                    <a:pt x="1281994" y="847724"/>
                  </a:cubicBezTo>
                  <a:lnTo>
                    <a:pt x="94785" y="847724"/>
                  </a:lnTo>
                  <a:cubicBezTo>
                    <a:pt x="69646" y="847724"/>
                    <a:pt x="45537" y="837738"/>
                    <a:pt x="27762" y="819962"/>
                  </a:cubicBezTo>
                  <a:cubicBezTo>
                    <a:pt x="9986" y="802187"/>
                    <a:pt x="0" y="778078"/>
                    <a:pt x="0" y="752939"/>
                  </a:cubicBezTo>
                  <a:lnTo>
                    <a:pt x="0" y="94785"/>
                  </a:lnTo>
                  <a:cubicBezTo>
                    <a:pt x="0" y="69646"/>
                    <a:pt x="9986" y="45537"/>
                    <a:pt x="27762" y="27762"/>
                  </a:cubicBezTo>
                  <a:cubicBezTo>
                    <a:pt x="45537" y="9986"/>
                    <a:pt x="69646" y="0"/>
                    <a:pt x="94785" y="0"/>
                  </a:cubicBezTo>
                  <a:close/>
                </a:path>
              </a:pathLst>
            </a:custGeom>
            <a:solidFill>
              <a:srgbClr val="C0CFE1"/>
            </a:solidFill>
            <a:ln cap="rnd">
              <a:noFill/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376778" cy="895349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3499"/>
                </a:lnSpc>
              </a:pPr>
              <a:r>
                <a:rPr lang="en-US" sz="2499" b="true">
                  <a:solidFill>
                    <a:srgbClr val="2A2E3A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Current Progres</a:t>
              </a:r>
            </a:p>
            <a:p>
              <a:pPr algn="l" marL="431797" indent="-215899" lvl="1">
                <a:lnSpc>
                  <a:spcPts val="2799"/>
                </a:lnSpc>
                <a:buFont typeface="Arial"/>
                <a:buChar char="•"/>
              </a:pPr>
              <a:r>
                <a:rPr lang="en-US" sz="1999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Image-to-grid conversion completed</a:t>
              </a:r>
            </a:p>
            <a:p>
              <a:pPr algn="l" marL="431797" indent="-215899" lvl="1">
                <a:lnSpc>
                  <a:spcPts val="2799"/>
                </a:lnSpc>
                <a:buFont typeface="Arial"/>
                <a:buChar char="•"/>
              </a:pPr>
              <a:r>
                <a:rPr lang="en-US" sz="1999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 </a:t>
              </a:r>
              <a:r>
                <a:rPr lang="en-US" sz="1999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BFS, DFS, and A* implemented</a:t>
              </a:r>
            </a:p>
            <a:p>
              <a:pPr algn="l" marL="431797" indent="-215899" lvl="1">
                <a:lnSpc>
                  <a:spcPts val="2799"/>
                </a:lnSpc>
                <a:buFont typeface="Arial"/>
                <a:buChar char="•"/>
              </a:pPr>
              <a:r>
                <a:rPr lang="en-US" sz="1999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 </a:t>
              </a:r>
              <a:r>
                <a:rPr lang="en-US" sz="1999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MDP and Q-Learning integrated</a:t>
              </a:r>
            </a:p>
            <a:p>
              <a:pPr algn="l" marL="431797" indent="-215899" lvl="1">
                <a:lnSpc>
                  <a:spcPts val="2799"/>
                </a:lnSpc>
                <a:buFont typeface="Arial"/>
                <a:buChar char="•"/>
              </a:pPr>
              <a:r>
                <a:rPr lang="en-US" sz="1999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 </a:t>
              </a:r>
              <a:r>
                <a:rPr lang="en-US" sz="1999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Neural Network + A* integration completed</a:t>
              </a:r>
            </a:p>
            <a:p>
              <a:pPr algn="l" marL="431797" indent="-215899" lvl="1">
                <a:lnSpc>
                  <a:spcPts val="2799"/>
                </a:lnSpc>
                <a:buFont typeface="Arial"/>
                <a:buChar char="•"/>
              </a:pPr>
              <a:r>
                <a:rPr lang="en-US" sz="1999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 </a:t>
              </a:r>
              <a:r>
                <a:rPr lang="en-US" sz="1999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Interactive dashboard developed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8914631">
            <a:off x="12160528" y="5942188"/>
            <a:ext cx="2610229" cy="1362065"/>
          </a:xfrm>
          <a:custGeom>
            <a:avLst/>
            <a:gdLst/>
            <a:ahLst/>
            <a:cxnLst/>
            <a:rect r="r" b="b" t="t" l="l"/>
            <a:pathLst>
              <a:path h="1362065" w="2610229">
                <a:moveTo>
                  <a:pt x="0" y="0"/>
                </a:moveTo>
                <a:lnTo>
                  <a:pt x="2610229" y="0"/>
                </a:lnTo>
                <a:lnTo>
                  <a:pt x="2610229" y="1362065"/>
                </a:lnTo>
                <a:lnTo>
                  <a:pt x="0" y="13620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3157143" y="3341168"/>
            <a:ext cx="4740756" cy="2510776"/>
            <a:chOff x="0" y="0"/>
            <a:chExt cx="1248594" cy="66127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48594" cy="661274"/>
            </a:xfrm>
            <a:custGeom>
              <a:avLst/>
              <a:gdLst/>
              <a:ahLst/>
              <a:cxnLst/>
              <a:rect r="r" b="b" t="t" l="l"/>
              <a:pathLst>
                <a:path h="661274" w="1248594">
                  <a:moveTo>
                    <a:pt x="104516" y="0"/>
                  </a:moveTo>
                  <a:lnTo>
                    <a:pt x="1144078" y="0"/>
                  </a:lnTo>
                  <a:cubicBezTo>
                    <a:pt x="1201801" y="0"/>
                    <a:pt x="1248594" y="46793"/>
                    <a:pt x="1248594" y="104516"/>
                  </a:cubicBezTo>
                  <a:lnTo>
                    <a:pt x="1248594" y="556759"/>
                  </a:lnTo>
                  <a:cubicBezTo>
                    <a:pt x="1248594" y="584478"/>
                    <a:pt x="1237583" y="611062"/>
                    <a:pt x="1217982" y="630662"/>
                  </a:cubicBezTo>
                  <a:cubicBezTo>
                    <a:pt x="1198382" y="650263"/>
                    <a:pt x="1171798" y="661274"/>
                    <a:pt x="1144078" y="661274"/>
                  </a:cubicBezTo>
                  <a:lnTo>
                    <a:pt x="104516" y="661274"/>
                  </a:lnTo>
                  <a:cubicBezTo>
                    <a:pt x="76796" y="661274"/>
                    <a:pt x="50212" y="650263"/>
                    <a:pt x="30612" y="630662"/>
                  </a:cubicBezTo>
                  <a:cubicBezTo>
                    <a:pt x="11011" y="611062"/>
                    <a:pt x="0" y="584478"/>
                    <a:pt x="0" y="556759"/>
                  </a:cubicBezTo>
                  <a:lnTo>
                    <a:pt x="0" y="104516"/>
                  </a:lnTo>
                  <a:cubicBezTo>
                    <a:pt x="0" y="76796"/>
                    <a:pt x="11011" y="50212"/>
                    <a:pt x="30612" y="30612"/>
                  </a:cubicBezTo>
                  <a:cubicBezTo>
                    <a:pt x="50212" y="11011"/>
                    <a:pt x="76796" y="0"/>
                    <a:pt x="104516" y="0"/>
                  </a:cubicBezTo>
                  <a:close/>
                </a:path>
              </a:pathLst>
            </a:custGeom>
            <a:solidFill>
              <a:srgbClr val="C0CFE1"/>
            </a:solidFill>
            <a:ln cap="rnd">
              <a:noFill/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248594" cy="708899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3499"/>
                </a:lnSpc>
              </a:pPr>
              <a:r>
                <a:rPr lang="en-US" sz="2499" b="true">
                  <a:solidFill>
                    <a:srgbClr val="2A2E3A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Future Scope</a:t>
              </a:r>
            </a:p>
            <a:p>
              <a:pPr algn="l" marL="453387" indent="-226693" lvl="1">
                <a:lnSpc>
                  <a:spcPts val="2939"/>
                </a:lnSpc>
                <a:buFont typeface="Arial"/>
                <a:buChar char="•"/>
              </a:pPr>
              <a:r>
                <a:rPr lang="en-US" sz="2099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 R</a:t>
              </a:r>
              <a:r>
                <a:rPr lang="en-US" sz="2099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eal-time robotic navigation</a:t>
              </a:r>
            </a:p>
            <a:p>
              <a:pPr algn="l" marL="453387" indent="-226693" lvl="1">
                <a:lnSpc>
                  <a:spcPts val="2939"/>
                </a:lnSpc>
                <a:buFont typeface="Arial"/>
                <a:buChar char="•"/>
              </a:pPr>
              <a:r>
                <a:rPr lang="en-US" sz="2099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 Web</a:t>
              </a:r>
              <a:r>
                <a:rPr lang="en-US" sz="2099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 dashboard deployment</a:t>
              </a:r>
            </a:p>
            <a:p>
              <a:pPr algn="l" marL="453387" indent="-226693" lvl="1">
                <a:lnSpc>
                  <a:spcPts val="2939"/>
                </a:lnSpc>
                <a:buFont typeface="Arial"/>
                <a:buChar char="•"/>
              </a:pPr>
              <a:r>
                <a:rPr lang="en-US" sz="2099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Multi-agent</a:t>
              </a:r>
              <a:r>
                <a:rPr lang="en-US" sz="2099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 n</a:t>
              </a:r>
              <a:r>
                <a:rPr lang="en-US" sz="2099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avigation systems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491538" y="5147934"/>
            <a:ext cx="5227455" cy="4713732"/>
            <a:chOff x="0" y="0"/>
            <a:chExt cx="1376778" cy="124147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76778" cy="1241477"/>
            </a:xfrm>
            <a:custGeom>
              <a:avLst/>
              <a:gdLst/>
              <a:ahLst/>
              <a:cxnLst/>
              <a:rect r="r" b="b" t="t" l="l"/>
              <a:pathLst>
                <a:path h="1241477" w="1376778">
                  <a:moveTo>
                    <a:pt x="94785" y="0"/>
                  </a:moveTo>
                  <a:lnTo>
                    <a:pt x="1281994" y="0"/>
                  </a:lnTo>
                  <a:cubicBezTo>
                    <a:pt x="1307132" y="0"/>
                    <a:pt x="1331241" y="9986"/>
                    <a:pt x="1349016" y="27762"/>
                  </a:cubicBezTo>
                  <a:cubicBezTo>
                    <a:pt x="1366792" y="45537"/>
                    <a:pt x="1376778" y="69646"/>
                    <a:pt x="1376778" y="94785"/>
                  </a:cubicBezTo>
                  <a:lnTo>
                    <a:pt x="1376778" y="1146692"/>
                  </a:lnTo>
                  <a:cubicBezTo>
                    <a:pt x="1376778" y="1171831"/>
                    <a:pt x="1366792" y="1195939"/>
                    <a:pt x="1349016" y="1213715"/>
                  </a:cubicBezTo>
                  <a:cubicBezTo>
                    <a:pt x="1331241" y="1231491"/>
                    <a:pt x="1307132" y="1241477"/>
                    <a:pt x="1281994" y="1241477"/>
                  </a:cubicBezTo>
                  <a:lnTo>
                    <a:pt x="94785" y="1241477"/>
                  </a:lnTo>
                  <a:cubicBezTo>
                    <a:pt x="69646" y="1241477"/>
                    <a:pt x="45537" y="1231491"/>
                    <a:pt x="27762" y="1213715"/>
                  </a:cubicBezTo>
                  <a:cubicBezTo>
                    <a:pt x="9986" y="1195939"/>
                    <a:pt x="0" y="1171831"/>
                    <a:pt x="0" y="1146692"/>
                  </a:cubicBezTo>
                  <a:lnTo>
                    <a:pt x="0" y="94785"/>
                  </a:lnTo>
                  <a:cubicBezTo>
                    <a:pt x="0" y="69646"/>
                    <a:pt x="9986" y="45537"/>
                    <a:pt x="27762" y="27762"/>
                  </a:cubicBezTo>
                  <a:cubicBezTo>
                    <a:pt x="45537" y="9986"/>
                    <a:pt x="69646" y="0"/>
                    <a:pt x="94785" y="0"/>
                  </a:cubicBezTo>
                  <a:close/>
                </a:path>
              </a:pathLst>
            </a:custGeom>
            <a:solidFill>
              <a:srgbClr val="C0CFE1"/>
            </a:solidFill>
            <a:ln cap="rnd">
              <a:noFill/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1376778" cy="1289102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3499"/>
                </a:lnSpc>
              </a:pPr>
              <a:r>
                <a:rPr lang="en-US" sz="2499" b="true">
                  <a:solidFill>
                    <a:srgbClr val="2A2E3A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Team Contributions</a:t>
              </a:r>
            </a:p>
            <a:p>
              <a:pPr algn="l">
                <a:lnSpc>
                  <a:spcPts val="2799"/>
                </a:lnSpc>
              </a:pPr>
              <a:r>
                <a:rPr lang="en-US" sz="1999" b="true">
                  <a:solidFill>
                    <a:srgbClr val="2A2E3A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Dhruv</a:t>
              </a:r>
            </a:p>
            <a:p>
              <a:pPr algn="l" marL="431797" indent="-215899" lvl="1">
                <a:lnSpc>
                  <a:spcPts val="2799"/>
                </a:lnSpc>
                <a:buFont typeface="Arial"/>
                <a:buChar char="•"/>
              </a:pPr>
              <a:r>
                <a:rPr lang="en-US" sz="1999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 </a:t>
              </a:r>
              <a:r>
                <a:rPr lang="en-US" sz="1999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Image processing</a:t>
              </a:r>
            </a:p>
            <a:p>
              <a:pPr algn="l" marL="431797" indent="-215899" lvl="1">
                <a:lnSpc>
                  <a:spcPts val="2799"/>
                </a:lnSpc>
                <a:buFont typeface="Arial"/>
                <a:buChar char="•"/>
              </a:pPr>
              <a:r>
                <a:rPr lang="en-US" sz="1999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Dashboard integration</a:t>
              </a:r>
            </a:p>
            <a:p>
              <a:pPr algn="l" marL="431797" indent="-215899" lvl="1">
                <a:lnSpc>
                  <a:spcPts val="2799"/>
                </a:lnSpc>
                <a:buFont typeface="Arial"/>
                <a:buChar char="•"/>
              </a:pPr>
              <a:r>
                <a:rPr lang="en-US" sz="1999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 </a:t>
              </a:r>
              <a:r>
                <a:rPr lang="en-US" sz="1999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RL Experiments</a:t>
              </a:r>
            </a:p>
            <a:p>
              <a:pPr algn="l" marL="431797" indent="-215899" lvl="1">
                <a:lnSpc>
                  <a:spcPts val="2799"/>
                </a:lnSpc>
                <a:buFont typeface="Arial"/>
                <a:buChar char="•"/>
              </a:pPr>
              <a:r>
                <a:rPr lang="en-US" sz="1999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Performance</a:t>
              </a:r>
              <a:r>
                <a:rPr lang="en-US" sz="1999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 vis</a:t>
              </a:r>
              <a:r>
                <a:rPr lang="en-US" sz="1999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ualization</a:t>
              </a:r>
            </a:p>
            <a:p>
              <a:pPr algn="ctr">
                <a:lnSpc>
                  <a:spcPts val="2799"/>
                </a:lnSpc>
              </a:pPr>
            </a:p>
            <a:p>
              <a:pPr algn="l">
                <a:lnSpc>
                  <a:spcPts val="2799"/>
                </a:lnSpc>
              </a:pPr>
              <a:r>
                <a:rPr lang="en-US" sz="1999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Yashica Gupta</a:t>
              </a:r>
            </a:p>
            <a:p>
              <a:pPr algn="l" marL="431797" indent="-215899" lvl="1">
                <a:lnSpc>
                  <a:spcPts val="2799"/>
                </a:lnSpc>
                <a:buFont typeface="Arial"/>
                <a:buChar char="•"/>
              </a:pPr>
              <a:r>
                <a:rPr lang="en-US" sz="1999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 Testing and validation</a:t>
              </a:r>
            </a:p>
            <a:p>
              <a:pPr algn="l" marL="431797" indent="-215899" lvl="1">
                <a:lnSpc>
                  <a:spcPts val="2799"/>
                </a:lnSpc>
                <a:buFont typeface="Arial"/>
                <a:buChar char="•"/>
              </a:pPr>
              <a:r>
                <a:rPr lang="en-US" sz="1999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Algorithm Implementation</a:t>
              </a:r>
            </a:p>
            <a:p>
              <a:pPr algn="l" marL="431797" indent="-215899" lvl="1">
                <a:lnSpc>
                  <a:spcPts val="2799"/>
                </a:lnSpc>
                <a:buFont typeface="Arial"/>
                <a:buChar char="•"/>
              </a:pPr>
              <a:r>
                <a:rPr lang="en-US" sz="1999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 Docume</a:t>
              </a:r>
              <a:r>
                <a:rPr lang="en-US" sz="1999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ntation and presentation</a:t>
              </a:r>
            </a:p>
            <a:p>
              <a:pPr algn="l" marL="431797" indent="-215899" lvl="1">
                <a:lnSpc>
                  <a:spcPts val="2799"/>
                </a:lnSpc>
                <a:buFont typeface="Arial"/>
                <a:buChar char="•"/>
              </a:pPr>
              <a:r>
                <a:rPr lang="en-US" sz="1999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 </a:t>
              </a:r>
              <a:r>
                <a:rPr lang="en-US" sz="1999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Input environment preparation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9434746" y="4684510"/>
          <a:ext cx="7625449" cy="4057650"/>
        </p:xfrm>
        <a:graphic>
          <a:graphicData uri="http://schemas.openxmlformats.org/drawingml/2006/table">
            <a:tbl>
              <a:tblPr/>
              <a:tblGrid>
                <a:gridCol w="824940"/>
                <a:gridCol w="6800510"/>
              </a:tblGrid>
              <a:tr h="212407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399" b="true">
                          <a:solidFill>
                            <a:srgbClr val="718BAB"/>
                          </a:solidFill>
                          <a:latin typeface="Helios Bold"/>
                          <a:ea typeface="Helios Bold"/>
                          <a:cs typeface="Helios Bold"/>
                          <a:sym typeface="Helios Bold"/>
                        </a:rPr>
                        <a:t>3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0">
                      <a:solidFill>
                        <a:srgbClr val="141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141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141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141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endParaRPr lang="en-US" sz="1100"/>
                    </a:p>
                    <a:p>
                      <a:pPr algn="l">
                        <a:lnSpc>
                          <a:spcPts val="3079"/>
                        </a:lnSpc>
                      </a:pPr>
                      <a:r>
                        <a:rPr lang="en-US" sz="2199">
                          <a:solidFill>
                            <a:srgbClr val="2A2E3A"/>
                          </a:solidFill>
                          <a:latin typeface="Helios"/>
                          <a:ea typeface="Helios"/>
                          <a:cs typeface="Helios"/>
                          <a:sym typeface="Helios"/>
                        </a:rPr>
                        <a:t>OpenCV Python Documentation</a:t>
                      </a:r>
                    </a:p>
                    <a:p>
                      <a:pPr algn="l">
                        <a:lnSpc>
                          <a:spcPts val="3079"/>
                        </a:lnSpc>
                      </a:pPr>
                      <a:r>
                        <a:rPr lang="en-US" sz="2199">
                          <a:solidFill>
                            <a:srgbClr val="2A2E3A"/>
                          </a:solidFill>
                          <a:latin typeface="Helios"/>
                          <a:ea typeface="Helios"/>
                          <a:cs typeface="Helios"/>
                          <a:sym typeface="Helios"/>
                        </a:rPr>
                        <a:t>https://docs.opencv.org/4.x/d6/d00/tutorial_py_root.html</a:t>
                      </a:r>
                    </a:p>
                    <a:p>
                      <a:pPr algn="l">
                        <a:lnSpc>
                          <a:spcPts val="3079"/>
                        </a:lnSpc>
                      </a:pPr>
                    </a:p>
                  </a:txBody>
                  <a:tcPr marL="76200" marR="76200" marT="76200" marB="76200" anchor="ctr">
                    <a:lnL cmpd="sng" algn="ctr" cap="flat" w="0">
                      <a:solidFill>
                        <a:srgbClr val="141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141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141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141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4302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718BAB"/>
                          </a:solidFill>
                          <a:latin typeface="Helios"/>
                          <a:ea typeface="Helios"/>
                          <a:cs typeface="Helios"/>
                          <a:sym typeface="Helios"/>
                        </a:rPr>
                        <a:t>4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0">
                      <a:solidFill>
                        <a:srgbClr val="141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141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141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141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2A2E3A"/>
                          </a:solidFill>
                          <a:latin typeface="Helios"/>
                          <a:ea typeface="Helios"/>
                          <a:cs typeface="Helios"/>
                          <a:sym typeface="Helios"/>
                        </a:rPr>
                        <a:t>A* Pathfinding Algorithm Reference</a:t>
                      </a:r>
                      <a:endParaRPr lang="en-US" sz="1100"/>
                    </a:p>
                    <a:p>
                      <a:pPr algn="l">
                        <a:lnSpc>
                          <a:spcPts val="3079"/>
                        </a:lnSpc>
                      </a:pPr>
                      <a:r>
                        <a:rPr lang="en-US" sz="2199">
                          <a:solidFill>
                            <a:srgbClr val="2A2E3A"/>
                          </a:solidFill>
                          <a:latin typeface="Helios"/>
                          <a:ea typeface="Helios"/>
                          <a:cs typeface="Helios"/>
                          <a:sym typeface="Helios"/>
                        </a:rPr>
                        <a:t>https://www.redblobgames.com/pathfinding/a-star/introduction.html</a:t>
                      </a:r>
                    </a:p>
                  </a:txBody>
                  <a:tcPr marL="76200" marR="76200" marT="76200" marB="76200" anchor="ctr">
                    <a:lnL cmpd="sng" algn="ctr" cap="flat" w="0">
                      <a:solidFill>
                        <a:srgbClr val="141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141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141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141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05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endParaRPr lang="en-US" sz="1100"/>
                    </a:p>
                  </a:txBody>
                  <a:tcPr marL="76200" marR="76200" marT="76200" marB="76200" anchor="ctr">
                    <a:lnL cmpd="sng" algn="ctr" cap="flat" w="0">
                      <a:solidFill>
                        <a:srgbClr val="141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141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141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141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endParaRPr lang="en-US" sz="1100"/>
                    </a:p>
                  </a:txBody>
                  <a:tcPr marL="76200" marR="76200" marT="76200" marB="76200" anchor="ctr">
                    <a:lnL cmpd="sng" algn="ctr" cap="flat" w="0">
                      <a:solidFill>
                        <a:srgbClr val="141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141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141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141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1028700" y="5143500"/>
          <a:ext cx="7199910" cy="3598660"/>
        </p:xfrm>
        <a:graphic>
          <a:graphicData uri="http://schemas.openxmlformats.org/drawingml/2006/table">
            <a:tbl>
              <a:tblPr/>
              <a:tblGrid>
                <a:gridCol w="778904"/>
                <a:gridCol w="6421006"/>
              </a:tblGrid>
              <a:tr h="161746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718BAB"/>
                          </a:solidFill>
                          <a:latin typeface="Helios Bold"/>
                          <a:ea typeface="Helios Bold"/>
                          <a:cs typeface="Helios Bold"/>
                          <a:sym typeface="Helios Bold"/>
                        </a:rPr>
                        <a:t>1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0">
                      <a:solidFill>
                        <a:srgbClr val="141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141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141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141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19"/>
                        </a:lnSpc>
                        <a:defRPr/>
                      </a:pPr>
                      <a:r>
                        <a:rPr lang="en-US" sz="2299">
                          <a:solidFill>
                            <a:srgbClr val="2A2E3A"/>
                          </a:solidFill>
                          <a:latin typeface="Helios"/>
                          <a:ea typeface="Helios"/>
                          <a:cs typeface="Helios"/>
                          <a:sym typeface="Helios"/>
                          <a:hlinkClick r:id="rId2" action="ppaction://hlinksldjump"/>
                        </a:rPr>
                        <a:t>Russell, S., &amp; Norvig, P. — Artificial Intelligence: A Modern Approach</a:t>
                      </a:r>
                      <a:endParaRPr lang="en-US" sz="1100"/>
                    </a:p>
                    <a:p>
                      <a:pPr algn="l">
                        <a:lnSpc>
                          <a:spcPts val="3219"/>
                        </a:lnSpc>
                      </a:pPr>
                      <a:r>
                        <a:rPr lang="en-US" sz="2299">
                          <a:solidFill>
                            <a:srgbClr val="2A2E3A"/>
                          </a:solidFill>
                          <a:latin typeface="Helios"/>
                          <a:ea typeface="Helios"/>
                          <a:cs typeface="Helios"/>
                          <a:sym typeface="Helios"/>
                          <a:hlinkClick r:id="rId2" action="ppaction://hlinksldjump"/>
                        </a:rPr>
                        <a:t>https://aima.cs.berkeley.edu/</a:t>
                      </a:r>
                    </a:p>
                  </a:txBody>
                  <a:tcPr marL="76200" marR="76200" marT="76200" marB="76200" anchor="ctr">
                    <a:lnL cmpd="sng" algn="ctr" cap="flat" w="0">
                      <a:solidFill>
                        <a:srgbClr val="141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141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141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141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71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718BAB"/>
                          </a:solidFill>
                          <a:latin typeface="Helios Bold"/>
                          <a:ea typeface="Helios Bold"/>
                          <a:cs typeface="Helios Bold"/>
                          <a:sym typeface="Helios Bold"/>
                        </a:rPr>
                        <a:t>2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0">
                      <a:solidFill>
                        <a:srgbClr val="141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141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141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141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19"/>
                        </a:lnSpc>
                        <a:defRPr/>
                      </a:pPr>
                      <a:r>
                        <a:rPr lang="en-US" sz="2299">
                          <a:solidFill>
                            <a:srgbClr val="2A2E3A"/>
                          </a:solidFill>
                          <a:latin typeface="Helios"/>
                          <a:ea typeface="Helios"/>
                          <a:cs typeface="Helios"/>
                          <a:sym typeface="Helios"/>
                          <a:hlinkClick r:id="rId3" action="ppaction://hlinksldjump"/>
                        </a:rPr>
                        <a:t>Sutton &amp; Barto — Reinforcement Learning: An Introduction</a:t>
                      </a:r>
                      <a:endParaRPr lang="en-US" sz="1100"/>
                    </a:p>
                    <a:p>
                      <a:pPr algn="l">
                        <a:lnSpc>
                          <a:spcPts val="3219"/>
                        </a:lnSpc>
                      </a:pPr>
                      <a:r>
                        <a:rPr lang="en-US" sz="2299">
                          <a:solidFill>
                            <a:srgbClr val="2A2E3A"/>
                          </a:solidFill>
                          <a:latin typeface="Helios"/>
                          <a:ea typeface="Helios"/>
                          <a:cs typeface="Helios"/>
                          <a:sym typeface="Helios"/>
                          <a:hlinkClick r:id="rId3" action="ppaction://hlinksldjump"/>
                        </a:rPr>
                        <a:t>http://incompleteideas.net/book/the-book.html</a:t>
                      </a:r>
                    </a:p>
                  </a:txBody>
                  <a:tcPr marL="76200" marR="76200" marT="76200" marB="76200" anchor="ctr">
                    <a:lnL cmpd="sng" algn="ctr" cap="flat" w="0">
                      <a:solidFill>
                        <a:srgbClr val="141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141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141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141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endParaRPr lang="en-US" sz="1100"/>
                    </a:p>
                  </a:txBody>
                  <a:tcPr marL="76200" marR="76200" marT="76200" marB="76200" anchor="ctr">
                    <a:lnL cmpd="sng" algn="ctr" cap="flat" w="0">
                      <a:solidFill>
                        <a:srgbClr val="141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141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141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141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19"/>
                        </a:lnSpc>
                        <a:defRPr/>
                      </a:pPr>
                      <a:endParaRPr lang="en-US" sz="1100"/>
                    </a:p>
                  </a:txBody>
                  <a:tcPr marL="76200" marR="76200" marT="76200" marB="76200" anchor="ctr">
                    <a:lnL cmpd="sng" algn="ctr" cap="flat" w="0">
                      <a:solidFill>
                        <a:srgbClr val="141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141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141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141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4" id="4"/>
          <p:cNvGrpSpPr/>
          <p:nvPr/>
        </p:nvGrpSpPr>
        <p:grpSpPr>
          <a:xfrm rot="0">
            <a:off x="0" y="0"/>
            <a:ext cx="18288000" cy="4157535"/>
            <a:chOff x="0" y="0"/>
            <a:chExt cx="4816593" cy="109498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16592" cy="1094988"/>
            </a:xfrm>
            <a:custGeom>
              <a:avLst/>
              <a:gdLst/>
              <a:ahLst/>
              <a:cxnLst/>
              <a:rect r="r" b="b" t="t" l="l"/>
              <a:pathLst>
                <a:path h="1094988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094988"/>
                  </a:lnTo>
                  <a:lnTo>
                    <a:pt x="0" y="1094988"/>
                  </a:lnTo>
                  <a:close/>
                </a:path>
              </a:pathLst>
            </a:custGeom>
            <a:solidFill>
              <a:srgbClr val="C0CFE1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816593" cy="11330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148268" y="1470755"/>
            <a:ext cx="13991465" cy="1139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99"/>
              </a:lnSpc>
            </a:pPr>
            <a:r>
              <a:rPr lang="en-US" b="true" sz="6999">
                <a:solidFill>
                  <a:srgbClr val="2A2E3A"/>
                </a:solidFill>
                <a:latin typeface="Klein Bold"/>
                <a:ea typeface="Klein Bold"/>
                <a:cs typeface="Klein Bold"/>
                <a:sym typeface="Klein Bold"/>
              </a:rPr>
              <a:t> </a:t>
            </a:r>
            <a:r>
              <a:rPr lang="en-US" b="true" sz="6999">
                <a:solidFill>
                  <a:srgbClr val="718BAB"/>
                </a:solidFill>
                <a:latin typeface="Klein Bold"/>
                <a:ea typeface="Klein Bold"/>
                <a:cs typeface="Klein Bold"/>
                <a:sym typeface="Klein Bold"/>
              </a:rPr>
              <a:t>References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2515431"/>
            <a:ext cx="18288000" cy="14219258"/>
            <a:chOff x="0" y="0"/>
            <a:chExt cx="4816593" cy="37449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3744990"/>
            </a:xfrm>
            <a:custGeom>
              <a:avLst/>
              <a:gdLst/>
              <a:ahLst/>
              <a:cxnLst/>
              <a:rect r="r" b="b" t="t" l="l"/>
              <a:pathLst>
                <a:path h="374499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744990"/>
                  </a:lnTo>
                  <a:lnTo>
                    <a:pt x="0" y="3744990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37830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673413">
            <a:off x="9283310" y="-2113117"/>
            <a:ext cx="13265113" cy="13265113"/>
          </a:xfrm>
          <a:custGeom>
            <a:avLst/>
            <a:gdLst/>
            <a:ahLst/>
            <a:cxnLst/>
            <a:rect r="r" b="b" t="t" l="l"/>
            <a:pathLst>
              <a:path h="13265113" w="13265113">
                <a:moveTo>
                  <a:pt x="0" y="0"/>
                </a:moveTo>
                <a:lnTo>
                  <a:pt x="13265113" y="0"/>
                </a:lnTo>
                <a:lnTo>
                  <a:pt x="13265113" y="13265112"/>
                </a:lnTo>
                <a:lnTo>
                  <a:pt x="0" y="132651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336248">
            <a:off x="8735211" y="-1309533"/>
            <a:ext cx="13265113" cy="13265113"/>
          </a:xfrm>
          <a:custGeom>
            <a:avLst/>
            <a:gdLst/>
            <a:ahLst/>
            <a:cxnLst/>
            <a:rect r="r" b="b" t="t" l="l"/>
            <a:pathLst>
              <a:path h="13265113" w="13265113">
                <a:moveTo>
                  <a:pt x="0" y="0"/>
                </a:moveTo>
                <a:lnTo>
                  <a:pt x="13265113" y="0"/>
                </a:lnTo>
                <a:lnTo>
                  <a:pt x="13265113" y="13265113"/>
                </a:lnTo>
                <a:lnTo>
                  <a:pt x="0" y="132651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697124" y="4003154"/>
            <a:ext cx="5695456" cy="2280692"/>
            <a:chOff x="0" y="0"/>
            <a:chExt cx="7593941" cy="3040922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85725"/>
              <a:ext cx="7593941" cy="19018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1699"/>
                </a:lnSpc>
              </a:pPr>
              <a:r>
                <a:rPr lang="en-US" b="true" sz="8999">
                  <a:solidFill>
                    <a:srgbClr val="2A2E3A"/>
                  </a:solidFill>
                  <a:latin typeface="Klein Bold"/>
                  <a:ea typeface="Klein Bold"/>
                  <a:cs typeface="Klein Bold"/>
                  <a:sym typeface="Klein Bold"/>
                </a:rPr>
                <a:t>Thank</a:t>
              </a:r>
              <a:r>
                <a:rPr lang="en-US" b="true" sz="8999">
                  <a:solidFill>
                    <a:srgbClr val="718BAB"/>
                  </a:solidFill>
                  <a:latin typeface="Klein Bold"/>
                  <a:ea typeface="Klein Bold"/>
                  <a:cs typeface="Klein Bold"/>
                  <a:sym typeface="Klein Bold"/>
                </a:rPr>
                <a:t>you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2194890"/>
              <a:ext cx="7593941" cy="8460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319"/>
                </a:lnSpc>
                <a:spcBef>
                  <a:spcPct val="0"/>
                </a:spcBef>
              </a:pPr>
              <a:r>
                <a:rPr lang="en-US" sz="3799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A</a:t>
              </a:r>
              <a:r>
                <a:rPr lang="en-US" sz="3799" u="none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ny questions?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DAHI6hvmsJY</dc:identifier>
  <dcterms:modified xsi:type="dcterms:W3CDTF">2011-08-01T06:04:30Z</dcterms:modified>
  <cp:revision>1</cp:revision>
  <dc:title>Copy of Intelligent Path Planning in Image-Based Environments</dc:title>
</cp:coreProperties>
</file>